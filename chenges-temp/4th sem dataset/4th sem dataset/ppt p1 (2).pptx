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71" r:id="rId7"/>
    <p:sldId id="261" r:id="rId8"/>
    <p:sldId id="272" r:id="rId9"/>
    <p:sldId id="273" r:id="rId10"/>
    <p:sldId id="262" r:id="rId11"/>
    <p:sldId id="274" r:id="rId12"/>
    <p:sldId id="264" r:id="rId13"/>
    <p:sldId id="275" r:id="rId14"/>
    <p:sldId id="263" r:id="rId15"/>
    <p:sldId id="276" r:id="rId16"/>
    <p:sldId id="277" r:id="rId17"/>
    <p:sldId id="265" r:id="rId18"/>
    <p:sldId id="266" r:id="rId19"/>
    <p:sldId id="267" r:id="rId20"/>
    <p:sldId id="268" r:id="rId21"/>
    <p:sldId id="270" r:id="rId22"/>
  </p:sldIdLst>
  <p:sldSz cx="12192000" cy="6858000"/>
  <p:notesSz cx="6761163" cy="9942513"/>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4" roundtripDataSignature="AMtx7miRs8jnCq7dUwYbkcHa2SHPnCa0s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29837" cy="498852"/>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29761" y="0"/>
            <a:ext cx="2929837" cy="498852"/>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6" name="Google Shape;6;n"/>
          <p:cNvSpPr txBox="1">
            <a:spLocks noGrp="1"/>
          </p:cNvSpPr>
          <p:nvPr>
            <p:ph type="body" idx="1"/>
          </p:nvPr>
        </p:nvSpPr>
        <p:spPr>
          <a:xfrm>
            <a:off x="676117" y="4784835"/>
            <a:ext cx="5408930" cy="3914864"/>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443662"/>
            <a:ext cx="2929837" cy="498851"/>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29761" y="9443662"/>
            <a:ext cx="2929837" cy="498851"/>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299680585"/>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1: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1: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6592024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3: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2" name="Google Shape;132;p3: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7235334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4: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4: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3689406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5: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8" name="Google Shape;148;p5: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7195824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6: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6" name="Google Shape;156;p6: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9854804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7: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4" name="Google Shape;164;p7: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41918325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8: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2" name="Google Shape;172;p8: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9001744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10: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8" name="Google Shape;188;p10: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42481384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a:extLst>
            <a:ext uri="{FF2B5EF4-FFF2-40B4-BE49-F238E27FC236}">
              <a16:creationId xmlns:a16="http://schemas.microsoft.com/office/drawing/2014/main" id="{BEA9126A-6D62-68D5-7065-F64095272B46}"/>
            </a:ext>
          </a:extLst>
        </p:cNvPr>
        <p:cNvGrpSpPr/>
        <p:nvPr/>
      </p:nvGrpSpPr>
      <p:grpSpPr>
        <a:xfrm>
          <a:off x="0" y="0"/>
          <a:ext cx="0" cy="0"/>
          <a:chOff x="0" y="0"/>
          <a:chExt cx="0" cy="0"/>
        </a:xfrm>
      </p:grpSpPr>
      <p:sp>
        <p:nvSpPr>
          <p:cNvPr id="187" name="Google Shape;187;p10:notes">
            <a:extLst>
              <a:ext uri="{FF2B5EF4-FFF2-40B4-BE49-F238E27FC236}">
                <a16:creationId xmlns:a16="http://schemas.microsoft.com/office/drawing/2014/main" id="{42C495DC-338C-93B2-7C43-4DE1AC3D671A}"/>
              </a:ext>
            </a:extLst>
          </p:cNvPr>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8" name="Google Shape;188;p10:notes">
            <a:extLst>
              <a:ext uri="{FF2B5EF4-FFF2-40B4-BE49-F238E27FC236}">
                <a16:creationId xmlns:a16="http://schemas.microsoft.com/office/drawing/2014/main" id="{2A8F73FB-A730-5F83-8DE4-E7F4DBC002EC}"/>
              </a:ext>
            </a:extLst>
          </p:cNvPr>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5726101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9: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0" name="Google Shape;180;p9: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9282559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a:extLst>
            <a:ext uri="{FF2B5EF4-FFF2-40B4-BE49-F238E27FC236}">
              <a16:creationId xmlns:a16="http://schemas.microsoft.com/office/drawing/2014/main" id="{A96C8901-CB5A-9F75-BBC0-A2BF9BE353FD}"/>
            </a:ext>
          </a:extLst>
        </p:cNvPr>
        <p:cNvGrpSpPr/>
        <p:nvPr/>
      </p:nvGrpSpPr>
      <p:grpSpPr>
        <a:xfrm>
          <a:off x="0" y="0"/>
          <a:ext cx="0" cy="0"/>
          <a:chOff x="0" y="0"/>
          <a:chExt cx="0" cy="0"/>
        </a:xfrm>
      </p:grpSpPr>
      <p:sp>
        <p:nvSpPr>
          <p:cNvPr id="179" name="Google Shape;179;p9:notes">
            <a:extLst>
              <a:ext uri="{FF2B5EF4-FFF2-40B4-BE49-F238E27FC236}">
                <a16:creationId xmlns:a16="http://schemas.microsoft.com/office/drawing/2014/main" id="{77013D4C-2C28-6C88-B371-1F9C5418016C}"/>
              </a:ext>
            </a:extLst>
          </p:cNvPr>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0" name="Google Shape;180;p9:notes">
            <a:extLst>
              <a:ext uri="{FF2B5EF4-FFF2-40B4-BE49-F238E27FC236}">
                <a16:creationId xmlns:a16="http://schemas.microsoft.com/office/drawing/2014/main" id="{4031E809-A16A-51F6-AD2C-EEF27B70A4FA}"/>
              </a:ext>
            </a:extLst>
          </p:cNvPr>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7230986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a:extLst>
            <a:ext uri="{FF2B5EF4-FFF2-40B4-BE49-F238E27FC236}">
              <a16:creationId xmlns:a16="http://schemas.microsoft.com/office/drawing/2014/main" id="{01A65564-0747-345F-2F8D-1DAA45DD525C}"/>
            </a:ext>
          </a:extLst>
        </p:cNvPr>
        <p:cNvGrpSpPr/>
        <p:nvPr/>
      </p:nvGrpSpPr>
      <p:grpSpPr>
        <a:xfrm>
          <a:off x="0" y="0"/>
          <a:ext cx="0" cy="0"/>
          <a:chOff x="0" y="0"/>
          <a:chExt cx="0" cy="0"/>
        </a:xfrm>
      </p:grpSpPr>
      <p:sp>
        <p:nvSpPr>
          <p:cNvPr id="179" name="Google Shape;179;p9:notes">
            <a:extLst>
              <a:ext uri="{FF2B5EF4-FFF2-40B4-BE49-F238E27FC236}">
                <a16:creationId xmlns:a16="http://schemas.microsoft.com/office/drawing/2014/main" id="{BBFCDED2-D592-6A20-639E-A881184C7022}"/>
              </a:ext>
            </a:extLst>
          </p:cNvPr>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0" name="Google Shape;180;p9:notes">
            <a:extLst>
              <a:ext uri="{FF2B5EF4-FFF2-40B4-BE49-F238E27FC236}">
                <a16:creationId xmlns:a16="http://schemas.microsoft.com/office/drawing/2014/main" id="{BFBABD32-5400-1911-3C38-E8A396001E65}"/>
              </a:ext>
            </a:extLst>
          </p:cNvPr>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5267034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11: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11: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9526696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12: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4" name="Google Shape;204;p12: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4493171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13: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212" name="Google Shape;212;p13:notes"/>
          <p:cNvSpPr txBox="1">
            <a:spLocks noGrp="1"/>
          </p:cNvSpPr>
          <p:nvPr>
            <p:ph type="body" idx="1"/>
          </p:nvPr>
        </p:nvSpPr>
        <p:spPr>
          <a:xfrm>
            <a:off x="676117" y="4784835"/>
            <a:ext cx="5408930" cy="3914864"/>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3" name="Google Shape;213;p13:notes"/>
          <p:cNvSpPr txBox="1">
            <a:spLocks noGrp="1"/>
          </p:cNvSpPr>
          <p:nvPr>
            <p:ph type="sldNum" idx="12"/>
          </p:nvPr>
        </p:nvSpPr>
        <p:spPr>
          <a:xfrm>
            <a:off x="3829761" y="9443662"/>
            <a:ext cx="2929837" cy="49885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19</a:t>
            </a:fld>
            <a:endParaRPr/>
          </a:p>
        </p:txBody>
      </p:sp>
    </p:spTree>
    <p:extLst>
      <p:ext uri="{BB962C8B-B14F-4D97-AF65-F5344CB8AC3E}">
        <p14:creationId xmlns:p14="http://schemas.microsoft.com/office/powerpoint/2010/main" val="6071400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4: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221" name="Google Shape;221;p14:notes"/>
          <p:cNvSpPr txBox="1">
            <a:spLocks noGrp="1"/>
          </p:cNvSpPr>
          <p:nvPr>
            <p:ph type="body" idx="1"/>
          </p:nvPr>
        </p:nvSpPr>
        <p:spPr>
          <a:xfrm>
            <a:off x="676117" y="4784835"/>
            <a:ext cx="5408930" cy="3914864"/>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2" name="Google Shape;222;p14:notes"/>
          <p:cNvSpPr txBox="1">
            <a:spLocks noGrp="1"/>
          </p:cNvSpPr>
          <p:nvPr>
            <p:ph type="sldNum" idx="12"/>
          </p:nvPr>
        </p:nvSpPr>
        <p:spPr>
          <a:xfrm>
            <a:off x="3829761" y="9443662"/>
            <a:ext cx="2929837" cy="49885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20</a:t>
            </a:fld>
            <a:endParaRPr/>
          </a:p>
        </p:txBody>
      </p:sp>
    </p:spTree>
    <p:extLst>
      <p:ext uri="{BB962C8B-B14F-4D97-AF65-F5344CB8AC3E}">
        <p14:creationId xmlns:p14="http://schemas.microsoft.com/office/powerpoint/2010/main" val="20085517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16: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9" name="Google Shape;239;p16: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48774674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5"/>
        <p:cNvGrpSpPr/>
        <p:nvPr/>
      </p:nvGrpSpPr>
      <p:grpSpPr>
        <a:xfrm>
          <a:off x="0" y="0"/>
          <a:ext cx="0" cy="0"/>
          <a:chOff x="0" y="0"/>
          <a:chExt cx="0" cy="0"/>
        </a:xfrm>
      </p:grpSpPr>
      <p:sp>
        <p:nvSpPr>
          <p:cNvPr id="16" name="Google Shape;16;p18"/>
          <p:cNvSpPr txBox="1">
            <a:spLocks noGrp="1"/>
          </p:cNvSpPr>
          <p:nvPr>
            <p:ph type="body" idx="1"/>
          </p:nvPr>
        </p:nvSpPr>
        <p:spPr>
          <a:xfrm>
            <a:off x="174813" y="1258282"/>
            <a:ext cx="11842377" cy="4918680"/>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rgbClr val="002060"/>
              </a:buClr>
              <a:buSzPts val="2800"/>
              <a:buChar char="•"/>
              <a:defRPr>
                <a:solidFill>
                  <a:srgbClr val="002060"/>
                </a:solidFill>
                <a:latin typeface="Bookman Old Style"/>
                <a:ea typeface="Bookman Old Style"/>
                <a:cs typeface="Bookman Old Style"/>
                <a:sym typeface="Bookman Old Style"/>
              </a:defRPr>
            </a:lvl1pPr>
            <a:lvl2pPr marL="914400" lvl="1" indent="-381000" algn="l">
              <a:lnSpc>
                <a:spcPct val="90000"/>
              </a:lnSpc>
              <a:spcBef>
                <a:spcPts val="500"/>
              </a:spcBef>
              <a:spcAft>
                <a:spcPts val="0"/>
              </a:spcAft>
              <a:buClr>
                <a:schemeClr val="dk1"/>
              </a:buClr>
              <a:buSzPts val="2400"/>
              <a:buChar char="•"/>
              <a:defRPr>
                <a:latin typeface="Bookman Old Style"/>
                <a:ea typeface="Bookman Old Style"/>
                <a:cs typeface="Bookman Old Style"/>
                <a:sym typeface="Bookman Old Style"/>
              </a:defRPr>
            </a:lvl2pPr>
            <a:lvl3pPr marL="1371600" lvl="2" indent="-355600" algn="l">
              <a:lnSpc>
                <a:spcPct val="90000"/>
              </a:lnSpc>
              <a:spcBef>
                <a:spcPts val="500"/>
              </a:spcBef>
              <a:spcAft>
                <a:spcPts val="0"/>
              </a:spcAft>
              <a:buClr>
                <a:srgbClr val="002060"/>
              </a:buClr>
              <a:buSzPts val="2000"/>
              <a:buChar char="•"/>
              <a:defRPr>
                <a:solidFill>
                  <a:srgbClr val="002060"/>
                </a:solidFill>
                <a:latin typeface="Bookman Old Style"/>
                <a:ea typeface="Bookman Old Style"/>
                <a:cs typeface="Bookman Old Style"/>
                <a:sym typeface="Bookman Old Style"/>
              </a:defRPr>
            </a:lvl3pPr>
            <a:lvl4pPr marL="1828800" lvl="3" indent="-342900" algn="l">
              <a:lnSpc>
                <a:spcPct val="90000"/>
              </a:lnSpc>
              <a:spcBef>
                <a:spcPts val="500"/>
              </a:spcBef>
              <a:spcAft>
                <a:spcPts val="0"/>
              </a:spcAft>
              <a:buClr>
                <a:srgbClr val="002060"/>
              </a:buClr>
              <a:buSzPts val="1800"/>
              <a:buChar char="•"/>
              <a:defRPr>
                <a:solidFill>
                  <a:srgbClr val="002060"/>
                </a:solidFill>
                <a:latin typeface="Bookman Old Style"/>
                <a:ea typeface="Bookman Old Style"/>
                <a:cs typeface="Bookman Old Style"/>
                <a:sym typeface="Bookman Old Style"/>
              </a:defRPr>
            </a:lvl4pPr>
            <a:lvl5pPr marL="2286000" lvl="4" indent="-342900" algn="l">
              <a:lnSpc>
                <a:spcPct val="90000"/>
              </a:lnSpc>
              <a:spcBef>
                <a:spcPts val="500"/>
              </a:spcBef>
              <a:spcAft>
                <a:spcPts val="0"/>
              </a:spcAft>
              <a:buClr>
                <a:srgbClr val="002060"/>
              </a:buClr>
              <a:buSzPts val="1800"/>
              <a:buChar char="•"/>
              <a:defRPr>
                <a:solidFill>
                  <a:srgbClr val="002060"/>
                </a:solidFill>
                <a:latin typeface="Bookman Old Style"/>
                <a:ea typeface="Bookman Old Style"/>
                <a:cs typeface="Bookman Old Style"/>
                <a:sym typeface="Bookman Old Styl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7" name="Google Shape;17;p18"/>
          <p:cNvSpPr txBox="1"/>
          <p:nvPr/>
        </p:nvSpPr>
        <p:spPr>
          <a:xfrm>
            <a:off x="5055596" y="6405140"/>
            <a:ext cx="2080806"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u="none" strike="noStrike" cap="none">
                <a:solidFill>
                  <a:srgbClr val="422C75"/>
                </a:solidFill>
                <a:latin typeface="Bookman Old Style"/>
                <a:ea typeface="Bookman Old Style"/>
                <a:cs typeface="Bookman Old Style"/>
                <a:sym typeface="Bookman Old Style"/>
              </a:rPr>
              <a:t>Go, change the world</a:t>
            </a:r>
            <a:endParaRPr sz="1400" b="1" i="0" u="none" strike="noStrike" cap="none">
              <a:solidFill>
                <a:schemeClr val="dk1"/>
              </a:solidFill>
              <a:latin typeface="Bookman Old Style"/>
              <a:ea typeface="Bookman Old Style"/>
              <a:cs typeface="Bookman Old Style"/>
              <a:sym typeface="Bookman Old Style"/>
            </a:endParaRPr>
          </a:p>
        </p:txBody>
      </p:sp>
      <p:sp>
        <p:nvSpPr>
          <p:cNvPr id="18" name="Google Shape;18;p18"/>
          <p:cNvSpPr txBox="1">
            <a:spLocks noGrp="1"/>
          </p:cNvSpPr>
          <p:nvPr>
            <p:ph type="dt" idx="10"/>
          </p:nvPr>
        </p:nvSpPr>
        <p:spPr>
          <a:xfrm>
            <a:off x="174812" y="6347205"/>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solidFill>
                  <a:srgbClr val="002060"/>
                </a:solidFill>
                <a:latin typeface="Bookman Old Style"/>
                <a:ea typeface="Bookman Old Style"/>
                <a:cs typeface="Bookman Old Style"/>
                <a:sym typeface="Bookman Old Styl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8"/>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1" i="0" u="none" strike="noStrike" cap="none">
                <a:solidFill>
                  <a:srgbClr val="002060"/>
                </a:solidFill>
                <a:latin typeface="Bookman Old Style"/>
                <a:ea typeface="Bookman Old Style"/>
                <a:cs typeface="Bookman Old Style"/>
                <a:sym typeface="Bookman Old Style"/>
              </a:defRPr>
            </a:lvl1pPr>
            <a:lvl2pPr marL="0" lvl="1" indent="0" algn="r">
              <a:spcBef>
                <a:spcPts val="0"/>
              </a:spcBef>
              <a:buNone/>
              <a:defRPr sz="1200" b="1" i="0" u="none" strike="noStrike" cap="none">
                <a:solidFill>
                  <a:srgbClr val="002060"/>
                </a:solidFill>
                <a:latin typeface="Bookman Old Style"/>
                <a:ea typeface="Bookman Old Style"/>
                <a:cs typeface="Bookman Old Style"/>
                <a:sym typeface="Bookman Old Style"/>
              </a:defRPr>
            </a:lvl2pPr>
            <a:lvl3pPr marL="0" lvl="2" indent="0" algn="r">
              <a:spcBef>
                <a:spcPts val="0"/>
              </a:spcBef>
              <a:buNone/>
              <a:defRPr sz="1200" b="1" i="0" u="none" strike="noStrike" cap="none">
                <a:solidFill>
                  <a:srgbClr val="002060"/>
                </a:solidFill>
                <a:latin typeface="Bookman Old Style"/>
                <a:ea typeface="Bookman Old Style"/>
                <a:cs typeface="Bookman Old Style"/>
                <a:sym typeface="Bookman Old Style"/>
              </a:defRPr>
            </a:lvl3pPr>
            <a:lvl4pPr marL="0" lvl="3" indent="0" algn="r">
              <a:spcBef>
                <a:spcPts val="0"/>
              </a:spcBef>
              <a:buNone/>
              <a:defRPr sz="1200" b="1" i="0" u="none" strike="noStrike" cap="none">
                <a:solidFill>
                  <a:srgbClr val="002060"/>
                </a:solidFill>
                <a:latin typeface="Bookman Old Style"/>
                <a:ea typeface="Bookman Old Style"/>
                <a:cs typeface="Bookman Old Style"/>
                <a:sym typeface="Bookman Old Style"/>
              </a:defRPr>
            </a:lvl4pPr>
            <a:lvl5pPr marL="0" lvl="4" indent="0" algn="r">
              <a:spcBef>
                <a:spcPts val="0"/>
              </a:spcBef>
              <a:buNone/>
              <a:defRPr sz="1200" b="1" i="0" u="none" strike="noStrike" cap="none">
                <a:solidFill>
                  <a:srgbClr val="002060"/>
                </a:solidFill>
                <a:latin typeface="Bookman Old Style"/>
                <a:ea typeface="Bookman Old Style"/>
                <a:cs typeface="Bookman Old Style"/>
                <a:sym typeface="Bookman Old Style"/>
              </a:defRPr>
            </a:lvl5pPr>
            <a:lvl6pPr marL="0" lvl="5" indent="0" algn="r">
              <a:spcBef>
                <a:spcPts val="0"/>
              </a:spcBef>
              <a:buNone/>
              <a:defRPr sz="1200" b="1" i="0" u="none" strike="noStrike" cap="none">
                <a:solidFill>
                  <a:srgbClr val="002060"/>
                </a:solidFill>
                <a:latin typeface="Bookman Old Style"/>
                <a:ea typeface="Bookman Old Style"/>
                <a:cs typeface="Bookman Old Style"/>
                <a:sym typeface="Bookman Old Style"/>
              </a:defRPr>
            </a:lvl6pPr>
            <a:lvl7pPr marL="0" lvl="6" indent="0" algn="r">
              <a:spcBef>
                <a:spcPts val="0"/>
              </a:spcBef>
              <a:buNone/>
              <a:defRPr sz="1200" b="1" i="0" u="none" strike="noStrike" cap="none">
                <a:solidFill>
                  <a:srgbClr val="002060"/>
                </a:solidFill>
                <a:latin typeface="Bookman Old Style"/>
                <a:ea typeface="Bookman Old Style"/>
                <a:cs typeface="Bookman Old Style"/>
                <a:sym typeface="Bookman Old Style"/>
              </a:defRPr>
            </a:lvl7pPr>
            <a:lvl8pPr marL="0" lvl="7" indent="0" algn="r">
              <a:spcBef>
                <a:spcPts val="0"/>
              </a:spcBef>
              <a:buNone/>
              <a:defRPr sz="1200" b="1" i="0" u="none" strike="noStrike" cap="none">
                <a:solidFill>
                  <a:srgbClr val="002060"/>
                </a:solidFill>
                <a:latin typeface="Bookman Old Style"/>
                <a:ea typeface="Bookman Old Style"/>
                <a:cs typeface="Bookman Old Style"/>
                <a:sym typeface="Bookman Old Style"/>
              </a:defRPr>
            </a:lvl8pPr>
            <a:lvl9pPr marL="0" lvl="8" indent="0" algn="r">
              <a:spcBef>
                <a:spcPts val="0"/>
              </a:spcBef>
              <a:buNone/>
              <a:defRPr sz="1200" b="1" i="0" u="none" strike="noStrike" cap="none">
                <a:solidFill>
                  <a:srgbClr val="002060"/>
                </a:solidFill>
                <a:latin typeface="Bookman Old Style"/>
                <a:ea typeface="Bookman Old Style"/>
                <a:cs typeface="Bookman Old Style"/>
                <a:sym typeface="Bookman Old Style"/>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18"/>
          <p:cNvPicPr preferRelativeResize="0"/>
          <p:nvPr/>
        </p:nvPicPr>
        <p:blipFill rotWithShape="1">
          <a:blip r:embed="rId2">
            <a:alphaModFix/>
          </a:blip>
          <a:srcRect t="13833"/>
          <a:stretch/>
        </p:blipFill>
        <p:spPr>
          <a:xfrm>
            <a:off x="-1" y="76427"/>
            <a:ext cx="2207505" cy="99763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19"/>
          <p:cNvSpPr txBox="1">
            <a:spLocks noGrp="1"/>
          </p:cNvSpPr>
          <p:nvPr>
            <p:ph type="ctrTitle"/>
          </p:nvPr>
        </p:nvSpPr>
        <p:spPr>
          <a:xfrm>
            <a:off x="1524000" y="1195310"/>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rgbClr val="002060"/>
              </a:buClr>
              <a:buSzPts val="6000"/>
              <a:buFont typeface="Bookman Old Style"/>
              <a:buNone/>
              <a:defRPr sz="6000">
                <a:solidFill>
                  <a:srgbClr val="002060"/>
                </a:solidFill>
                <a:latin typeface="Bookman Old Style"/>
                <a:ea typeface="Bookman Old Style"/>
                <a:cs typeface="Bookman Old Style"/>
                <a:sym typeface="Bookman Old Styl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9"/>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rgbClr val="C00000"/>
              </a:buClr>
              <a:buSzPts val="2400"/>
              <a:buNone/>
              <a:defRPr sz="2400">
                <a:solidFill>
                  <a:srgbClr val="C00000"/>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4" name="Google Shape;24;p19"/>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9"/>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
        <p:nvSpPr>
          <p:cNvPr id="26" name="Google Shape;26;p19"/>
          <p:cNvSpPr txBox="1"/>
          <p:nvPr/>
        </p:nvSpPr>
        <p:spPr>
          <a:xfrm>
            <a:off x="4541263" y="6344368"/>
            <a:ext cx="3498933" cy="377108"/>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2400" b="1" i="1">
                <a:solidFill>
                  <a:srgbClr val="422C75"/>
                </a:solidFill>
                <a:latin typeface="Bookman Old Style"/>
                <a:ea typeface="Bookman Old Style"/>
                <a:cs typeface="Bookman Old Style"/>
                <a:sym typeface="Bookman Old Style"/>
              </a:rPr>
              <a:t>Go, change the world</a:t>
            </a:r>
            <a:endParaRPr sz="2400" b="1">
              <a:solidFill>
                <a:schemeClr val="dk1"/>
              </a:solidFill>
              <a:latin typeface="Bookman Old Style"/>
              <a:ea typeface="Bookman Old Style"/>
              <a:cs typeface="Bookman Old Style"/>
              <a:sym typeface="Bookman Old Style"/>
            </a:endParaRPr>
          </a:p>
        </p:txBody>
      </p:sp>
      <p:pic>
        <p:nvPicPr>
          <p:cNvPr id="27" name="Google Shape;27;p19"/>
          <p:cNvPicPr preferRelativeResize="0"/>
          <p:nvPr/>
        </p:nvPicPr>
        <p:blipFill rotWithShape="1">
          <a:blip r:embed="rId2">
            <a:alphaModFix/>
          </a:blip>
          <a:srcRect t="13833"/>
          <a:stretch/>
        </p:blipFill>
        <p:spPr>
          <a:xfrm>
            <a:off x="0" y="0"/>
            <a:ext cx="2207505" cy="99763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8"/>
        <p:cNvGrpSpPr/>
        <p:nvPr/>
      </p:nvGrpSpPr>
      <p:grpSpPr>
        <a:xfrm>
          <a:off x="0" y="0"/>
          <a:ext cx="0" cy="0"/>
          <a:chOff x="0" y="0"/>
          <a:chExt cx="0" cy="0"/>
        </a:xfrm>
      </p:grpSpPr>
      <p:sp>
        <p:nvSpPr>
          <p:cNvPr id="29" name="Google Shape;29;p20"/>
          <p:cNvSpPr txBox="1">
            <a:spLocks noGrp="1"/>
          </p:cNvSpPr>
          <p:nvPr>
            <p:ph type="body" idx="1"/>
          </p:nvPr>
        </p:nvSpPr>
        <p:spPr>
          <a:xfrm>
            <a:off x="268942" y="1258282"/>
            <a:ext cx="5750859" cy="491868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0" name="Google Shape;30;p20"/>
          <p:cNvSpPr txBox="1">
            <a:spLocks noGrp="1"/>
          </p:cNvSpPr>
          <p:nvPr>
            <p:ph type="body" idx="2"/>
          </p:nvPr>
        </p:nvSpPr>
        <p:spPr>
          <a:xfrm>
            <a:off x="6172202" y="1258280"/>
            <a:ext cx="5795682" cy="4918683"/>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1" name="Google Shape;31;p20"/>
          <p:cNvSpPr txBox="1">
            <a:spLocks noGrp="1"/>
          </p:cNvSpPr>
          <p:nvPr>
            <p:ph type="dt" idx="10"/>
          </p:nvPr>
        </p:nvSpPr>
        <p:spPr>
          <a:xfrm>
            <a:off x="26894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20"/>
          <p:cNvSpPr txBox="1">
            <a:spLocks noGrp="1"/>
          </p:cNvSpPr>
          <p:nvPr>
            <p:ph type="sldNum" idx="12"/>
          </p:nvPr>
        </p:nvSpPr>
        <p:spPr>
          <a:xfrm>
            <a:off x="9224683"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33" name="Google Shape;33;p20"/>
          <p:cNvGrpSpPr/>
          <p:nvPr/>
        </p:nvGrpSpPr>
        <p:grpSpPr>
          <a:xfrm>
            <a:off x="4862837" y="6212514"/>
            <a:ext cx="2313924" cy="600635"/>
            <a:chOff x="9682912" y="8965"/>
            <a:chExt cx="2402541" cy="600635"/>
          </a:xfrm>
        </p:grpSpPr>
        <p:sp>
          <p:nvSpPr>
            <p:cNvPr id="34" name="Google Shape;34;p20"/>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35" name="Google Shape;35;p20"/>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pic>
        <p:nvPicPr>
          <p:cNvPr id="36" name="Google Shape;36;p20"/>
          <p:cNvPicPr preferRelativeResize="0"/>
          <p:nvPr/>
        </p:nvPicPr>
        <p:blipFill rotWithShape="1">
          <a:blip r:embed="rId2">
            <a:alphaModFix/>
          </a:blip>
          <a:srcRect t="13833"/>
          <a:stretch/>
        </p:blipFill>
        <p:spPr>
          <a:xfrm>
            <a:off x="224117" y="81266"/>
            <a:ext cx="2207505" cy="99763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7"/>
        <p:cNvGrpSpPr/>
        <p:nvPr/>
      </p:nvGrpSpPr>
      <p:grpSpPr>
        <a:xfrm>
          <a:off x="0" y="0"/>
          <a:ext cx="0" cy="0"/>
          <a:chOff x="0" y="0"/>
          <a:chExt cx="0" cy="0"/>
        </a:xfrm>
      </p:grpSpPr>
      <p:sp>
        <p:nvSpPr>
          <p:cNvPr id="38" name="Google Shape;38;p21"/>
          <p:cNvSpPr txBox="1">
            <a:spLocks noGrp="1"/>
          </p:cNvSpPr>
          <p:nvPr>
            <p:ph type="title"/>
          </p:nvPr>
        </p:nvSpPr>
        <p:spPr>
          <a:xfrm>
            <a:off x="831852"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C00000"/>
              </a:buClr>
              <a:buSzPts val="5400"/>
              <a:buFont typeface="Bookman Old Style"/>
              <a:buNone/>
              <a:defRPr sz="5400">
                <a:solidFill>
                  <a:srgbClr val="C00000"/>
                </a:solidFill>
                <a:latin typeface="Bookman Old Style"/>
                <a:ea typeface="Bookman Old Style"/>
                <a:cs typeface="Bookman Old Style"/>
                <a:sym typeface="Bookman Old Styl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21"/>
          <p:cNvSpPr txBox="1">
            <a:spLocks noGrp="1"/>
          </p:cNvSpPr>
          <p:nvPr>
            <p:ph type="body" idx="1"/>
          </p:nvPr>
        </p:nvSpPr>
        <p:spPr>
          <a:xfrm>
            <a:off x="831852" y="4589464"/>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002060"/>
              </a:buClr>
              <a:buSzPts val="2400"/>
              <a:buNone/>
              <a:defRPr sz="2400">
                <a:solidFill>
                  <a:srgbClr val="002060"/>
                </a:solidFill>
                <a:latin typeface="Bookman Old Style"/>
                <a:ea typeface="Bookman Old Style"/>
                <a:cs typeface="Bookman Old Style"/>
                <a:sym typeface="Bookman Old Style"/>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0" name="Google Shape;40;p21"/>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21"/>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21"/>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43" name="Google Shape;43;p21"/>
          <p:cNvGrpSpPr/>
          <p:nvPr/>
        </p:nvGrpSpPr>
        <p:grpSpPr>
          <a:xfrm>
            <a:off x="9842217" y="17838"/>
            <a:ext cx="2313924" cy="600635"/>
            <a:chOff x="9682912" y="8965"/>
            <a:chExt cx="2402541" cy="600635"/>
          </a:xfrm>
        </p:grpSpPr>
        <p:sp>
          <p:nvSpPr>
            <p:cNvPr id="44" name="Google Shape;44;p21"/>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45" name="Google Shape;45;p21"/>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
        <p:cNvGrpSpPr/>
        <p:nvPr/>
      </p:nvGrpSpPr>
      <p:grpSpPr>
        <a:xfrm>
          <a:off x="0" y="0"/>
          <a:ext cx="0" cy="0"/>
          <a:chOff x="0" y="0"/>
          <a:chExt cx="0" cy="0"/>
        </a:xfrm>
      </p:grpSpPr>
      <p:grpSp>
        <p:nvGrpSpPr>
          <p:cNvPr id="47" name="Google Shape;47;p22"/>
          <p:cNvGrpSpPr/>
          <p:nvPr/>
        </p:nvGrpSpPr>
        <p:grpSpPr>
          <a:xfrm>
            <a:off x="-35002" y="0"/>
            <a:ext cx="12191145" cy="6858000"/>
            <a:chOff x="-35003" y="-1"/>
            <a:chExt cx="12191144" cy="6858000"/>
          </a:xfrm>
        </p:grpSpPr>
        <p:sp>
          <p:nvSpPr>
            <p:cNvPr id="48" name="Google Shape;48;p22"/>
            <p:cNvSpPr/>
            <p:nvPr/>
          </p:nvSpPr>
          <p:spPr>
            <a:xfrm>
              <a:off x="-35003" y="-1"/>
              <a:ext cx="12191144" cy="6858000"/>
            </a:xfrm>
            <a:prstGeom prst="rect">
              <a:avLst/>
            </a:prstGeom>
            <a:solidFill>
              <a:schemeClr val="lt1">
                <a:alpha val="98823"/>
              </a:schemeClr>
            </a:solidFill>
            <a:ln w="76200" cap="flat" cmpd="sng">
              <a:solidFill>
                <a:srgbClr val="0058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092">
                <a:solidFill>
                  <a:srgbClr val="FFFFFF"/>
                </a:solidFill>
                <a:latin typeface="Calibri"/>
                <a:ea typeface="Calibri"/>
                <a:cs typeface="Calibri"/>
                <a:sym typeface="Calibri"/>
              </a:endParaRPr>
            </a:p>
          </p:txBody>
        </p:sp>
        <p:grpSp>
          <p:nvGrpSpPr>
            <p:cNvPr id="49" name="Google Shape;49;p22"/>
            <p:cNvGrpSpPr/>
            <p:nvPr/>
          </p:nvGrpSpPr>
          <p:grpSpPr>
            <a:xfrm>
              <a:off x="0" y="-1"/>
              <a:ext cx="1174375" cy="932329"/>
              <a:chOff x="1" y="0"/>
              <a:chExt cx="995082" cy="663388"/>
            </a:xfrm>
          </p:grpSpPr>
          <p:sp>
            <p:nvSpPr>
              <p:cNvPr id="50" name="Google Shape;50;p22"/>
              <p:cNvSpPr/>
              <p:nvPr/>
            </p:nvSpPr>
            <p:spPr>
              <a:xfrm>
                <a:off x="1" y="0"/>
                <a:ext cx="995082" cy="663388"/>
              </a:xfrm>
              <a:custGeom>
                <a:avLst/>
                <a:gdLst/>
                <a:ahLst/>
                <a:cxnLst/>
                <a:rect l="l" t="t" r="r" b="b"/>
                <a:pathLst>
                  <a:path w="7436484" h="5134610" extrusionOk="0">
                    <a:moveTo>
                      <a:pt x="7435941" y="0"/>
                    </a:moveTo>
                    <a:lnTo>
                      <a:pt x="0" y="0"/>
                    </a:lnTo>
                    <a:lnTo>
                      <a:pt x="0" y="5134513"/>
                    </a:lnTo>
                    <a:lnTo>
                      <a:pt x="7435941" y="0"/>
                    </a:lnTo>
                    <a:close/>
                  </a:path>
                </a:pathLst>
              </a:custGeom>
              <a:solidFill>
                <a:srgbClr val="00589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sp>
            <p:nvSpPr>
              <p:cNvPr id="51" name="Google Shape;51;p22"/>
              <p:cNvSpPr/>
              <p:nvPr/>
            </p:nvSpPr>
            <p:spPr>
              <a:xfrm>
                <a:off x="73957" y="36743"/>
                <a:ext cx="383242" cy="310714"/>
              </a:xfrm>
              <a:prstGeom prst="rect">
                <a:avLst/>
              </a:prstGeom>
              <a:blipFill rotWithShape="1">
                <a:blip r:embed="rId2">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grpSp>
      </p:grpSp>
      <p:sp>
        <p:nvSpPr>
          <p:cNvPr id="52" name="Google Shape;52;p22"/>
          <p:cNvSpPr txBox="1">
            <a:spLocks noGrp="1"/>
          </p:cNvSpPr>
          <p:nvPr>
            <p:ph type="title"/>
          </p:nvPr>
        </p:nvSpPr>
        <p:spPr>
          <a:xfrm>
            <a:off x="839789"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 name="Google Shape;53;p22"/>
          <p:cNvSpPr txBox="1">
            <a:spLocks noGrp="1"/>
          </p:cNvSpPr>
          <p:nvPr>
            <p:ph type="body" idx="1"/>
          </p:nvPr>
        </p:nvSpPr>
        <p:spPr>
          <a:xfrm>
            <a:off x="839789"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4" name="Google Shape;54;p22"/>
          <p:cNvSpPr txBox="1">
            <a:spLocks noGrp="1"/>
          </p:cNvSpPr>
          <p:nvPr>
            <p:ph type="body" idx="2"/>
          </p:nvPr>
        </p:nvSpPr>
        <p:spPr>
          <a:xfrm>
            <a:off x="839789" y="2505076"/>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22"/>
          <p:cNvSpPr txBox="1">
            <a:spLocks noGrp="1"/>
          </p:cNvSpPr>
          <p:nvPr>
            <p:ph type="body" idx="3"/>
          </p:nvPr>
        </p:nvSpPr>
        <p:spPr>
          <a:xfrm>
            <a:off x="6172202"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6" name="Google Shape;56;p22"/>
          <p:cNvSpPr txBox="1">
            <a:spLocks noGrp="1"/>
          </p:cNvSpPr>
          <p:nvPr>
            <p:ph type="body" idx="4"/>
          </p:nvPr>
        </p:nvSpPr>
        <p:spPr>
          <a:xfrm>
            <a:off x="6172202" y="2505076"/>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22"/>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22"/>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b="1">
                <a:solidFill>
                  <a:srgbClr val="C00000"/>
                </a:solidFill>
                <a:latin typeface="Bookman Old Style"/>
                <a:ea typeface="Bookman Old Style"/>
                <a:cs typeface="Bookman Old Style"/>
                <a:sym typeface="Bookman Old Styl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2"/>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60" name="Google Shape;60;p22"/>
          <p:cNvGrpSpPr/>
          <p:nvPr/>
        </p:nvGrpSpPr>
        <p:grpSpPr>
          <a:xfrm>
            <a:off x="9842217" y="17838"/>
            <a:ext cx="2313924" cy="600635"/>
            <a:chOff x="9682912" y="8965"/>
            <a:chExt cx="2402541" cy="600635"/>
          </a:xfrm>
        </p:grpSpPr>
        <p:sp>
          <p:nvSpPr>
            <p:cNvPr id="61" name="Google Shape;61;p22"/>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62" name="Google Shape;62;p22"/>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3"/>
        <p:cNvGrpSpPr/>
        <p:nvPr/>
      </p:nvGrpSpPr>
      <p:grpSpPr>
        <a:xfrm>
          <a:off x="0" y="0"/>
          <a:ext cx="0" cy="0"/>
          <a:chOff x="0" y="0"/>
          <a:chExt cx="0" cy="0"/>
        </a:xfrm>
      </p:grpSpPr>
      <p:sp>
        <p:nvSpPr>
          <p:cNvPr id="64" name="Google Shape;64;p23"/>
          <p:cNvSpPr/>
          <p:nvPr/>
        </p:nvSpPr>
        <p:spPr>
          <a:xfrm>
            <a:off x="856" y="0"/>
            <a:ext cx="12191145" cy="6858000"/>
          </a:xfrm>
          <a:prstGeom prst="rect">
            <a:avLst/>
          </a:prstGeom>
          <a:solidFill>
            <a:schemeClr val="lt1">
              <a:alpha val="98823"/>
            </a:schemeClr>
          </a:solidFill>
          <a:ln w="76200" cap="flat" cmpd="sng">
            <a:solidFill>
              <a:srgbClr val="0058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092">
              <a:solidFill>
                <a:srgbClr val="FFFFFF"/>
              </a:solidFill>
              <a:latin typeface="Calibri"/>
              <a:ea typeface="Calibri"/>
              <a:cs typeface="Calibri"/>
              <a:sym typeface="Calibri"/>
            </a:endParaRPr>
          </a:p>
        </p:txBody>
      </p:sp>
      <p:sp>
        <p:nvSpPr>
          <p:cNvPr id="65" name="Google Shape;65;p23"/>
          <p:cNvSpPr txBox="1">
            <a:spLocks noGrp="1"/>
          </p:cNvSpPr>
          <p:nvPr>
            <p:ph type="title"/>
          </p:nvPr>
        </p:nvSpPr>
        <p:spPr>
          <a:xfrm>
            <a:off x="838202"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6" name="Google Shape;66;p23"/>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3"/>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23"/>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69" name="Google Shape;69;p23"/>
          <p:cNvGrpSpPr/>
          <p:nvPr/>
        </p:nvGrpSpPr>
        <p:grpSpPr>
          <a:xfrm>
            <a:off x="0" y="1"/>
            <a:ext cx="1174375" cy="932329"/>
            <a:chOff x="1" y="0"/>
            <a:chExt cx="995082" cy="663388"/>
          </a:xfrm>
        </p:grpSpPr>
        <p:sp>
          <p:nvSpPr>
            <p:cNvPr id="70" name="Google Shape;70;p23"/>
            <p:cNvSpPr/>
            <p:nvPr/>
          </p:nvSpPr>
          <p:spPr>
            <a:xfrm>
              <a:off x="1" y="0"/>
              <a:ext cx="995082" cy="663388"/>
            </a:xfrm>
            <a:custGeom>
              <a:avLst/>
              <a:gdLst/>
              <a:ahLst/>
              <a:cxnLst/>
              <a:rect l="l" t="t" r="r" b="b"/>
              <a:pathLst>
                <a:path w="7436484" h="5134610" extrusionOk="0">
                  <a:moveTo>
                    <a:pt x="7435941" y="0"/>
                  </a:moveTo>
                  <a:lnTo>
                    <a:pt x="0" y="0"/>
                  </a:lnTo>
                  <a:lnTo>
                    <a:pt x="0" y="5134513"/>
                  </a:lnTo>
                  <a:lnTo>
                    <a:pt x="7435941" y="0"/>
                  </a:lnTo>
                  <a:close/>
                </a:path>
              </a:pathLst>
            </a:custGeom>
            <a:solidFill>
              <a:srgbClr val="00589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sp>
          <p:nvSpPr>
            <p:cNvPr id="71" name="Google Shape;71;p23"/>
            <p:cNvSpPr/>
            <p:nvPr/>
          </p:nvSpPr>
          <p:spPr>
            <a:xfrm>
              <a:off x="73957" y="36743"/>
              <a:ext cx="383242" cy="310714"/>
            </a:xfrm>
            <a:prstGeom prst="rect">
              <a:avLst/>
            </a:prstGeom>
            <a:blipFill rotWithShape="1">
              <a:blip r:embed="rId2">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grpSp>
      <p:grpSp>
        <p:nvGrpSpPr>
          <p:cNvPr id="72" name="Google Shape;72;p23"/>
          <p:cNvGrpSpPr/>
          <p:nvPr/>
        </p:nvGrpSpPr>
        <p:grpSpPr>
          <a:xfrm>
            <a:off x="9842217" y="17838"/>
            <a:ext cx="2313924" cy="600635"/>
            <a:chOff x="9682912" y="8965"/>
            <a:chExt cx="2402541" cy="600635"/>
          </a:xfrm>
        </p:grpSpPr>
        <p:sp>
          <p:nvSpPr>
            <p:cNvPr id="73" name="Google Shape;73;p23"/>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74" name="Google Shape;74;p23"/>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5"/>
        <p:cNvGrpSpPr/>
        <p:nvPr/>
      </p:nvGrpSpPr>
      <p:grpSpPr>
        <a:xfrm>
          <a:off x="0" y="0"/>
          <a:ext cx="0" cy="0"/>
          <a:chOff x="0" y="0"/>
          <a:chExt cx="0" cy="0"/>
        </a:xfrm>
      </p:grpSpPr>
      <p:sp>
        <p:nvSpPr>
          <p:cNvPr id="76" name="Google Shape;76;p24"/>
          <p:cNvSpPr/>
          <p:nvPr/>
        </p:nvSpPr>
        <p:spPr>
          <a:xfrm>
            <a:off x="856" y="0"/>
            <a:ext cx="12191145" cy="6858000"/>
          </a:xfrm>
          <a:prstGeom prst="rect">
            <a:avLst/>
          </a:prstGeom>
          <a:solidFill>
            <a:schemeClr val="lt1">
              <a:alpha val="98823"/>
            </a:schemeClr>
          </a:solidFill>
          <a:ln w="76200" cap="flat" cmpd="sng">
            <a:solidFill>
              <a:srgbClr val="0058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092">
              <a:solidFill>
                <a:srgbClr val="FFFFFF"/>
              </a:solidFill>
              <a:latin typeface="Calibri"/>
              <a:ea typeface="Calibri"/>
              <a:cs typeface="Calibri"/>
              <a:sym typeface="Calibri"/>
            </a:endParaRPr>
          </a:p>
        </p:txBody>
      </p:sp>
      <p:sp>
        <p:nvSpPr>
          <p:cNvPr id="77" name="Google Shape;77;p24"/>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4"/>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4"/>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80" name="Google Shape;80;p24"/>
          <p:cNvGrpSpPr/>
          <p:nvPr/>
        </p:nvGrpSpPr>
        <p:grpSpPr>
          <a:xfrm>
            <a:off x="9842217" y="17838"/>
            <a:ext cx="2313924" cy="600635"/>
            <a:chOff x="9682912" y="8965"/>
            <a:chExt cx="2402541" cy="600635"/>
          </a:xfrm>
        </p:grpSpPr>
        <p:sp>
          <p:nvSpPr>
            <p:cNvPr id="81" name="Google Shape;81;p24"/>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82" name="Google Shape;82;p24"/>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grpSp>
        <p:nvGrpSpPr>
          <p:cNvPr id="83" name="Google Shape;83;p24"/>
          <p:cNvGrpSpPr/>
          <p:nvPr/>
        </p:nvGrpSpPr>
        <p:grpSpPr>
          <a:xfrm>
            <a:off x="0" y="1"/>
            <a:ext cx="1174375" cy="932329"/>
            <a:chOff x="1" y="0"/>
            <a:chExt cx="995082" cy="663388"/>
          </a:xfrm>
        </p:grpSpPr>
        <p:sp>
          <p:nvSpPr>
            <p:cNvPr id="84" name="Google Shape;84;p24"/>
            <p:cNvSpPr/>
            <p:nvPr/>
          </p:nvSpPr>
          <p:spPr>
            <a:xfrm>
              <a:off x="1" y="0"/>
              <a:ext cx="995082" cy="663388"/>
            </a:xfrm>
            <a:custGeom>
              <a:avLst/>
              <a:gdLst/>
              <a:ahLst/>
              <a:cxnLst/>
              <a:rect l="l" t="t" r="r" b="b"/>
              <a:pathLst>
                <a:path w="7436484" h="5134610" extrusionOk="0">
                  <a:moveTo>
                    <a:pt x="7435941" y="0"/>
                  </a:moveTo>
                  <a:lnTo>
                    <a:pt x="0" y="0"/>
                  </a:lnTo>
                  <a:lnTo>
                    <a:pt x="0" y="5134513"/>
                  </a:lnTo>
                  <a:lnTo>
                    <a:pt x="7435941" y="0"/>
                  </a:lnTo>
                  <a:close/>
                </a:path>
              </a:pathLst>
            </a:custGeom>
            <a:solidFill>
              <a:srgbClr val="00589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sp>
          <p:nvSpPr>
            <p:cNvPr id="85" name="Google Shape;85;p24"/>
            <p:cNvSpPr/>
            <p:nvPr/>
          </p:nvSpPr>
          <p:spPr>
            <a:xfrm>
              <a:off x="73957" y="36743"/>
              <a:ext cx="383242" cy="310714"/>
            </a:xfrm>
            <a:prstGeom prst="rect">
              <a:avLst/>
            </a:prstGeom>
            <a:blipFill rotWithShape="1">
              <a:blip r:embed="rId2">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grpSp>
      <p:pic>
        <p:nvPicPr>
          <p:cNvPr id="86" name="Google Shape;86;p24"/>
          <p:cNvPicPr preferRelativeResize="0"/>
          <p:nvPr/>
        </p:nvPicPr>
        <p:blipFill rotWithShape="1">
          <a:blip r:embed="rId3">
            <a:alphaModFix/>
          </a:blip>
          <a:srcRect/>
          <a:stretch/>
        </p:blipFill>
        <p:spPr>
          <a:xfrm>
            <a:off x="3151096" y="1605964"/>
            <a:ext cx="5889812" cy="3646074"/>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87"/>
        <p:cNvGrpSpPr/>
        <p:nvPr/>
      </p:nvGrpSpPr>
      <p:grpSpPr>
        <a:xfrm>
          <a:off x="0" y="0"/>
          <a:ext cx="0" cy="0"/>
          <a:chOff x="0" y="0"/>
          <a:chExt cx="0" cy="0"/>
        </a:xfrm>
      </p:grpSpPr>
      <p:grpSp>
        <p:nvGrpSpPr>
          <p:cNvPr id="88" name="Google Shape;88;p25"/>
          <p:cNvGrpSpPr/>
          <p:nvPr/>
        </p:nvGrpSpPr>
        <p:grpSpPr>
          <a:xfrm>
            <a:off x="-35002" y="0"/>
            <a:ext cx="12191145" cy="6858000"/>
            <a:chOff x="-35003" y="-1"/>
            <a:chExt cx="12191144" cy="6858000"/>
          </a:xfrm>
        </p:grpSpPr>
        <p:sp>
          <p:nvSpPr>
            <p:cNvPr id="89" name="Google Shape;89;p25"/>
            <p:cNvSpPr/>
            <p:nvPr/>
          </p:nvSpPr>
          <p:spPr>
            <a:xfrm>
              <a:off x="-35003" y="-1"/>
              <a:ext cx="12191144" cy="6858000"/>
            </a:xfrm>
            <a:prstGeom prst="rect">
              <a:avLst/>
            </a:prstGeom>
            <a:solidFill>
              <a:schemeClr val="lt1">
                <a:alpha val="98823"/>
              </a:schemeClr>
            </a:solidFill>
            <a:ln w="76200" cap="flat" cmpd="sng">
              <a:solidFill>
                <a:srgbClr val="0058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092">
                <a:solidFill>
                  <a:srgbClr val="FFFFFF"/>
                </a:solidFill>
                <a:latin typeface="Calibri"/>
                <a:ea typeface="Calibri"/>
                <a:cs typeface="Calibri"/>
                <a:sym typeface="Calibri"/>
              </a:endParaRPr>
            </a:p>
          </p:txBody>
        </p:sp>
        <p:grpSp>
          <p:nvGrpSpPr>
            <p:cNvPr id="90" name="Google Shape;90;p25"/>
            <p:cNvGrpSpPr/>
            <p:nvPr/>
          </p:nvGrpSpPr>
          <p:grpSpPr>
            <a:xfrm>
              <a:off x="0" y="-1"/>
              <a:ext cx="1174375" cy="932329"/>
              <a:chOff x="1" y="0"/>
              <a:chExt cx="995082" cy="663388"/>
            </a:xfrm>
          </p:grpSpPr>
          <p:sp>
            <p:nvSpPr>
              <p:cNvPr id="91" name="Google Shape;91;p25"/>
              <p:cNvSpPr/>
              <p:nvPr/>
            </p:nvSpPr>
            <p:spPr>
              <a:xfrm>
                <a:off x="1" y="0"/>
                <a:ext cx="995082" cy="663388"/>
              </a:xfrm>
              <a:custGeom>
                <a:avLst/>
                <a:gdLst/>
                <a:ahLst/>
                <a:cxnLst/>
                <a:rect l="l" t="t" r="r" b="b"/>
                <a:pathLst>
                  <a:path w="7436484" h="5134610" extrusionOk="0">
                    <a:moveTo>
                      <a:pt x="7435941" y="0"/>
                    </a:moveTo>
                    <a:lnTo>
                      <a:pt x="0" y="0"/>
                    </a:lnTo>
                    <a:lnTo>
                      <a:pt x="0" y="5134513"/>
                    </a:lnTo>
                    <a:lnTo>
                      <a:pt x="7435941" y="0"/>
                    </a:lnTo>
                    <a:close/>
                  </a:path>
                </a:pathLst>
              </a:custGeom>
              <a:solidFill>
                <a:srgbClr val="00589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sp>
            <p:nvSpPr>
              <p:cNvPr id="92" name="Google Shape;92;p25"/>
              <p:cNvSpPr/>
              <p:nvPr/>
            </p:nvSpPr>
            <p:spPr>
              <a:xfrm>
                <a:off x="73957" y="36743"/>
                <a:ext cx="383242" cy="310714"/>
              </a:xfrm>
              <a:prstGeom prst="rect">
                <a:avLst/>
              </a:prstGeom>
              <a:blipFill rotWithShape="1">
                <a:blip r:embed="rId2">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grpSp>
      </p:grpSp>
      <p:sp>
        <p:nvSpPr>
          <p:cNvPr id="93" name="Google Shape;93;p25"/>
          <p:cNvSpPr txBox="1">
            <a:spLocks noGrp="1"/>
          </p:cNvSpPr>
          <p:nvPr>
            <p:ph type="title"/>
          </p:nvPr>
        </p:nvSpPr>
        <p:spPr>
          <a:xfrm>
            <a:off x="839790" y="457200"/>
            <a:ext cx="3932236"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4" name="Google Shape;94;p25"/>
          <p:cNvSpPr txBox="1">
            <a:spLocks noGrp="1"/>
          </p:cNvSpPr>
          <p:nvPr>
            <p:ph type="body" idx="1"/>
          </p:nvPr>
        </p:nvSpPr>
        <p:spPr>
          <a:xfrm>
            <a:off x="5183188" y="987425"/>
            <a:ext cx="6172201"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95" name="Google Shape;95;p25"/>
          <p:cNvSpPr txBox="1">
            <a:spLocks noGrp="1"/>
          </p:cNvSpPr>
          <p:nvPr>
            <p:ph type="body" idx="2"/>
          </p:nvPr>
        </p:nvSpPr>
        <p:spPr>
          <a:xfrm>
            <a:off x="839790" y="2057400"/>
            <a:ext cx="3932236"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96" name="Google Shape;96;p25"/>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7" name="Google Shape;97;p25"/>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8" name="Google Shape;98;p25"/>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99" name="Google Shape;99;p25"/>
          <p:cNvGrpSpPr/>
          <p:nvPr/>
        </p:nvGrpSpPr>
        <p:grpSpPr>
          <a:xfrm>
            <a:off x="9842217" y="17838"/>
            <a:ext cx="2313924" cy="600635"/>
            <a:chOff x="9682912" y="8965"/>
            <a:chExt cx="2402541" cy="600635"/>
          </a:xfrm>
        </p:grpSpPr>
        <p:sp>
          <p:nvSpPr>
            <p:cNvPr id="100" name="Google Shape;100;p25"/>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01" name="Google Shape;101;p25"/>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02"/>
        <p:cNvGrpSpPr/>
        <p:nvPr/>
      </p:nvGrpSpPr>
      <p:grpSpPr>
        <a:xfrm>
          <a:off x="0" y="0"/>
          <a:ext cx="0" cy="0"/>
          <a:chOff x="0" y="0"/>
          <a:chExt cx="0" cy="0"/>
        </a:xfrm>
      </p:grpSpPr>
      <p:sp>
        <p:nvSpPr>
          <p:cNvPr id="103" name="Google Shape;103;p26"/>
          <p:cNvSpPr txBox="1">
            <a:spLocks noGrp="1"/>
          </p:cNvSpPr>
          <p:nvPr>
            <p:ph type="title"/>
          </p:nvPr>
        </p:nvSpPr>
        <p:spPr>
          <a:xfrm>
            <a:off x="839790" y="457200"/>
            <a:ext cx="3932236"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4" name="Google Shape;104;p26"/>
          <p:cNvSpPr>
            <a:spLocks noGrp="1"/>
          </p:cNvSpPr>
          <p:nvPr>
            <p:ph type="pic" idx="2"/>
          </p:nvPr>
        </p:nvSpPr>
        <p:spPr>
          <a:xfrm>
            <a:off x="5183188" y="987425"/>
            <a:ext cx="6172201" cy="4873625"/>
          </a:xfrm>
          <a:prstGeom prst="rect">
            <a:avLst/>
          </a:prstGeom>
          <a:noFill/>
          <a:ln>
            <a:noFill/>
          </a:ln>
        </p:spPr>
        <p:txBody>
          <a:bodyPr/>
          <a:lstStyle/>
          <a:p>
            <a:endParaRPr lang="en-IN"/>
          </a:p>
        </p:txBody>
      </p:sp>
      <p:sp>
        <p:nvSpPr>
          <p:cNvPr id="105" name="Google Shape;105;p26"/>
          <p:cNvSpPr txBox="1">
            <a:spLocks noGrp="1"/>
          </p:cNvSpPr>
          <p:nvPr>
            <p:ph type="body" idx="1"/>
          </p:nvPr>
        </p:nvSpPr>
        <p:spPr>
          <a:xfrm>
            <a:off x="839790" y="2057400"/>
            <a:ext cx="3932236"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06" name="Google Shape;106;p26"/>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p26"/>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8" name="Google Shape;108;p26"/>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09"/>
        <p:cNvGrpSpPr/>
        <p:nvPr/>
      </p:nvGrpSpPr>
      <p:grpSpPr>
        <a:xfrm>
          <a:off x="0" y="0"/>
          <a:ext cx="0" cy="0"/>
          <a:chOff x="0" y="0"/>
          <a:chExt cx="0" cy="0"/>
        </a:xfrm>
      </p:grpSpPr>
      <p:sp>
        <p:nvSpPr>
          <p:cNvPr id="110" name="Google Shape;110;p27"/>
          <p:cNvSpPr txBox="1">
            <a:spLocks noGrp="1"/>
          </p:cNvSpPr>
          <p:nvPr>
            <p:ph type="title"/>
          </p:nvPr>
        </p:nvSpPr>
        <p:spPr>
          <a:xfrm>
            <a:off x="838202"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1" name="Google Shape;111;p27"/>
          <p:cNvSpPr txBox="1">
            <a:spLocks noGrp="1"/>
          </p:cNvSpPr>
          <p:nvPr>
            <p:ph type="body" idx="1"/>
          </p:nvPr>
        </p:nvSpPr>
        <p:spPr>
          <a:xfrm rot="5400000">
            <a:off x="3920333"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2" name="Google Shape;112;p27"/>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3" name="Google Shape;113;p27"/>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4" name="Google Shape;114;p27"/>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15"/>
        <p:cNvGrpSpPr/>
        <p:nvPr/>
      </p:nvGrpSpPr>
      <p:grpSpPr>
        <a:xfrm>
          <a:off x="0" y="0"/>
          <a:ext cx="0" cy="0"/>
          <a:chOff x="0" y="0"/>
          <a:chExt cx="0" cy="0"/>
        </a:xfrm>
      </p:grpSpPr>
      <p:sp>
        <p:nvSpPr>
          <p:cNvPr id="116" name="Google Shape;116;p28"/>
          <p:cNvSpPr txBox="1">
            <a:spLocks noGrp="1"/>
          </p:cNvSpPr>
          <p:nvPr>
            <p:ph type="title"/>
          </p:nvPr>
        </p:nvSpPr>
        <p:spPr>
          <a:xfrm rot="5400000">
            <a:off x="7133430"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7" name="Google Shape;117;p28"/>
          <p:cNvSpPr txBox="1">
            <a:spLocks noGrp="1"/>
          </p:cNvSpPr>
          <p:nvPr>
            <p:ph type="body" idx="1"/>
          </p:nvPr>
        </p:nvSpPr>
        <p:spPr>
          <a:xfrm rot="5400000">
            <a:off x="1799430"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8" name="Google Shape;118;p28"/>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9" name="Google Shape;119;p28"/>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0" name="Google Shape;120;p28"/>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7"/>
          <p:cNvSpPr txBox="1">
            <a:spLocks noGrp="1"/>
          </p:cNvSpPr>
          <p:nvPr>
            <p:ph type="title"/>
          </p:nvPr>
        </p:nvSpPr>
        <p:spPr>
          <a:xfrm>
            <a:off x="838202"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7"/>
          <p:cNvSpPr txBox="1">
            <a:spLocks noGrp="1"/>
          </p:cNvSpPr>
          <p:nvPr>
            <p:ph type="body" idx="1"/>
          </p:nvPr>
        </p:nvSpPr>
        <p:spPr>
          <a:xfrm>
            <a:off x="838202"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7"/>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7"/>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7"/>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jp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6.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6" name="Google Shape;126;p1"/>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a:t>
            </a:fld>
            <a:endParaRPr/>
          </a:p>
        </p:txBody>
      </p:sp>
      <p:pic>
        <p:nvPicPr>
          <p:cNvPr id="127" name="Google Shape;127;p1" descr="A building with a roof&#10;&#10;Description automatically generated"/>
          <p:cNvPicPr preferRelativeResize="0">
            <a:picLocks noGrp="1"/>
          </p:cNvPicPr>
          <p:nvPr>
            <p:ph type="body" idx="1"/>
          </p:nvPr>
        </p:nvPicPr>
        <p:blipFill rotWithShape="1">
          <a:blip r:embed="rId3">
            <a:alphaModFix/>
          </a:blip>
          <a:srcRect/>
          <a:stretch/>
        </p:blipFill>
        <p:spPr>
          <a:xfrm>
            <a:off x="421879" y="1067010"/>
            <a:ext cx="11421075" cy="3894085"/>
          </a:xfrm>
          <a:prstGeom prst="roundRect">
            <a:avLst>
              <a:gd name="adj" fmla="val 16667"/>
            </a:avLst>
          </a:prstGeom>
          <a:noFill/>
          <a:ln>
            <a:noFill/>
          </a:ln>
          <a:effectLst>
            <a:outerShdw blurRad="76200" dist="38100" dir="7800000" algn="tl" rotWithShape="0">
              <a:srgbClr val="000000">
                <a:alpha val="40000"/>
              </a:srgbClr>
            </a:outerShdw>
          </a:effectLst>
        </p:spPr>
      </p:pic>
      <p:sp>
        <p:nvSpPr>
          <p:cNvPr id="128" name="Google Shape;128;p1"/>
          <p:cNvSpPr/>
          <p:nvPr/>
        </p:nvSpPr>
        <p:spPr>
          <a:xfrm>
            <a:off x="349046" y="4146929"/>
            <a:ext cx="11493908" cy="1004814"/>
          </a:xfrm>
          <a:prstGeom prst="roundRect">
            <a:avLst>
              <a:gd name="adj" fmla="val 16667"/>
            </a:avLst>
          </a:prstGeom>
          <a:solidFill>
            <a:srgbClr val="002060"/>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lvl="0" algn="ctr"/>
            <a:r>
              <a:rPr lang="en-US" sz="3600" b="1" dirty="0">
                <a:solidFill>
                  <a:srgbClr val="FF0000"/>
                </a:solidFill>
                <a:latin typeface="Bookman Old Style" panose="02050604050505020204" pitchFamily="18" charset="0"/>
              </a:rPr>
              <a:t>Federated Learning Framework for Early Epidemic Forecasting</a:t>
            </a:r>
            <a:endParaRPr b="1" dirty="0">
              <a:solidFill>
                <a:srgbClr val="FF0000"/>
              </a:solidFill>
              <a:latin typeface="Bookman Old Style" panose="02050604050505020204" pitchFamily="18" charset="0"/>
            </a:endParaRPr>
          </a:p>
        </p:txBody>
      </p:sp>
      <p:sp>
        <p:nvSpPr>
          <p:cNvPr id="129" name="Google Shape;129;p1"/>
          <p:cNvSpPr/>
          <p:nvPr/>
        </p:nvSpPr>
        <p:spPr>
          <a:xfrm>
            <a:off x="349045" y="5288583"/>
            <a:ext cx="11421075" cy="1004814"/>
          </a:xfrm>
          <a:prstGeom prst="roundRect">
            <a:avLst>
              <a:gd name="adj" fmla="val 16667"/>
            </a:avLst>
          </a:prstGeom>
          <a:solidFill>
            <a:srgbClr val="002060"/>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b="1" dirty="0">
                <a:solidFill>
                  <a:srgbClr val="FF0000"/>
                </a:solidFill>
                <a:latin typeface="Bookman Old Style"/>
                <a:sym typeface="Bookman Old Style"/>
              </a:rPr>
              <a:t>C</a:t>
            </a:r>
            <a:r>
              <a:rPr lang="en-IN" sz="3600" b="1" dirty="0">
                <a:solidFill>
                  <a:srgbClr val="FF0000"/>
                </a:solidFill>
                <a:latin typeface="Bookman Old Style"/>
                <a:sym typeface="Bookman Old Style"/>
              </a:rPr>
              <a:t>SE Cluster</a:t>
            </a:r>
            <a:endParaRPr dirty="0">
              <a:solidFill>
                <a:srgbClr val="FF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6" name="Google Shape;136;p3"/>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2</a:t>
            </a:fld>
            <a:endParaRPr dirty="0"/>
          </a:p>
        </p:txBody>
      </p:sp>
      <p:sp>
        <p:nvSpPr>
          <p:cNvPr id="2" name="Google Shape;153;p5">
            <a:extLst>
              <a:ext uri="{FF2B5EF4-FFF2-40B4-BE49-F238E27FC236}">
                <a16:creationId xmlns:a16="http://schemas.microsoft.com/office/drawing/2014/main" id="{CCFA5489-3336-3CB0-7B6E-E6A5EA5ECBEC}"/>
              </a:ext>
            </a:extLst>
          </p:cNvPr>
          <p:cNvSpPr txBox="1"/>
          <p:nvPr/>
        </p:nvSpPr>
        <p:spPr>
          <a:xfrm>
            <a:off x="1487241" y="145670"/>
            <a:ext cx="8938607" cy="552420"/>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4000" b="1" dirty="0">
                <a:solidFill>
                  <a:srgbClr val="C00000"/>
                </a:solidFill>
                <a:latin typeface="Bookman Old Style"/>
                <a:ea typeface="Bookman Old Style"/>
                <a:cs typeface="Bookman Old Style"/>
                <a:sym typeface="Bookman Old Style"/>
              </a:rPr>
              <a:t>Team D</a:t>
            </a:r>
            <a:r>
              <a:rPr lang="en-IN" sz="4000" b="1" dirty="0">
                <a:solidFill>
                  <a:srgbClr val="C00000"/>
                </a:solidFill>
                <a:latin typeface="Bookman Old Style"/>
                <a:ea typeface="Bookman Old Style"/>
                <a:cs typeface="Bookman Old Style"/>
                <a:sym typeface="Bookman Old Style"/>
              </a:rPr>
              <a:t>etails</a:t>
            </a:r>
            <a:endParaRPr sz="4000" b="1" dirty="0">
              <a:solidFill>
                <a:srgbClr val="C00000"/>
              </a:solidFill>
              <a:latin typeface="Bookman Old Style"/>
              <a:ea typeface="Bookman Old Style"/>
              <a:cs typeface="Bookman Old Style"/>
              <a:sym typeface="Bookman Old Style"/>
            </a:endParaRPr>
          </a:p>
        </p:txBody>
      </p:sp>
      <p:pic>
        <p:nvPicPr>
          <p:cNvPr id="5" name="Picture 4">
            <a:extLst>
              <a:ext uri="{FF2B5EF4-FFF2-40B4-BE49-F238E27FC236}">
                <a16:creationId xmlns:a16="http://schemas.microsoft.com/office/drawing/2014/main" id="{2B4763BB-3DBB-DF98-BB9C-A20BE06F2752}"/>
              </a:ext>
            </a:extLst>
          </p:cNvPr>
          <p:cNvPicPr>
            <a:picLocks noChangeAspect="1"/>
          </p:cNvPicPr>
          <p:nvPr/>
        </p:nvPicPr>
        <p:blipFill>
          <a:blip r:embed="rId3"/>
          <a:stretch>
            <a:fillRect/>
          </a:stretch>
        </p:blipFill>
        <p:spPr>
          <a:xfrm>
            <a:off x="292622" y="1862658"/>
            <a:ext cx="2025309" cy="2567974"/>
          </a:xfrm>
          <a:prstGeom prst="rect">
            <a:avLst/>
          </a:prstGeom>
        </p:spPr>
      </p:pic>
      <p:pic>
        <p:nvPicPr>
          <p:cNvPr id="7" name="Picture 6">
            <a:extLst>
              <a:ext uri="{FF2B5EF4-FFF2-40B4-BE49-F238E27FC236}">
                <a16:creationId xmlns:a16="http://schemas.microsoft.com/office/drawing/2014/main" id="{7D51D027-943E-0715-BB92-3F2FA07EDF67}"/>
              </a:ext>
            </a:extLst>
          </p:cNvPr>
          <p:cNvPicPr>
            <a:picLocks noChangeAspect="1"/>
          </p:cNvPicPr>
          <p:nvPr/>
        </p:nvPicPr>
        <p:blipFill>
          <a:blip r:embed="rId4"/>
          <a:stretch>
            <a:fillRect/>
          </a:stretch>
        </p:blipFill>
        <p:spPr>
          <a:xfrm>
            <a:off x="3692139" y="3829112"/>
            <a:ext cx="1561857" cy="1922286"/>
          </a:xfrm>
          <a:prstGeom prst="rect">
            <a:avLst/>
          </a:prstGeom>
        </p:spPr>
      </p:pic>
      <p:pic>
        <p:nvPicPr>
          <p:cNvPr id="9" name="Picture 8">
            <a:extLst>
              <a:ext uri="{FF2B5EF4-FFF2-40B4-BE49-F238E27FC236}">
                <a16:creationId xmlns:a16="http://schemas.microsoft.com/office/drawing/2014/main" id="{44B3F24D-EE33-FC17-59EB-DC997B81C3C6}"/>
              </a:ext>
            </a:extLst>
          </p:cNvPr>
          <p:cNvPicPr>
            <a:picLocks noChangeAspect="1"/>
          </p:cNvPicPr>
          <p:nvPr/>
        </p:nvPicPr>
        <p:blipFill>
          <a:blip r:embed="rId5"/>
          <a:stretch>
            <a:fillRect/>
          </a:stretch>
        </p:blipFill>
        <p:spPr>
          <a:xfrm>
            <a:off x="8246096" y="1060412"/>
            <a:ext cx="1594021" cy="1929176"/>
          </a:xfrm>
          <a:prstGeom prst="rect">
            <a:avLst/>
          </a:prstGeom>
        </p:spPr>
      </p:pic>
      <p:pic>
        <p:nvPicPr>
          <p:cNvPr id="11" name="Picture 10">
            <a:extLst>
              <a:ext uri="{FF2B5EF4-FFF2-40B4-BE49-F238E27FC236}">
                <a16:creationId xmlns:a16="http://schemas.microsoft.com/office/drawing/2014/main" id="{D934A448-13CD-0F84-AEA0-27489729D48F}"/>
              </a:ext>
            </a:extLst>
          </p:cNvPr>
          <p:cNvPicPr>
            <a:picLocks noChangeAspect="1"/>
          </p:cNvPicPr>
          <p:nvPr/>
        </p:nvPicPr>
        <p:blipFill>
          <a:blip r:embed="rId6"/>
          <a:stretch>
            <a:fillRect/>
          </a:stretch>
        </p:blipFill>
        <p:spPr>
          <a:xfrm>
            <a:off x="3692139" y="1060412"/>
            <a:ext cx="1495112" cy="1922286"/>
          </a:xfrm>
          <a:prstGeom prst="rect">
            <a:avLst/>
          </a:prstGeom>
        </p:spPr>
      </p:pic>
      <p:pic>
        <p:nvPicPr>
          <p:cNvPr id="13" name="Picture 12">
            <a:extLst>
              <a:ext uri="{FF2B5EF4-FFF2-40B4-BE49-F238E27FC236}">
                <a16:creationId xmlns:a16="http://schemas.microsoft.com/office/drawing/2014/main" id="{4772D03D-40D6-6A32-55BC-58F744F846EF}"/>
              </a:ext>
            </a:extLst>
          </p:cNvPr>
          <p:cNvPicPr>
            <a:picLocks noChangeAspect="1"/>
          </p:cNvPicPr>
          <p:nvPr/>
        </p:nvPicPr>
        <p:blipFill>
          <a:blip r:embed="rId7"/>
          <a:stretch>
            <a:fillRect/>
          </a:stretch>
        </p:blipFill>
        <p:spPr>
          <a:xfrm>
            <a:off x="8373317" y="3868413"/>
            <a:ext cx="1594021" cy="1961872"/>
          </a:xfrm>
          <a:prstGeom prst="rect">
            <a:avLst/>
          </a:prstGeom>
        </p:spPr>
      </p:pic>
      <p:sp>
        <p:nvSpPr>
          <p:cNvPr id="14" name="TextBox 13">
            <a:extLst>
              <a:ext uri="{FF2B5EF4-FFF2-40B4-BE49-F238E27FC236}">
                <a16:creationId xmlns:a16="http://schemas.microsoft.com/office/drawing/2014/main" id="{D1452132-135D-A0C8-79E1-7BEAE8A2DF2C}"/>
              </a:ext>
            </a:extLst>
          </p:cNvPr>
          <p:cNvSpPr txBox="1"/>
          <p:nvPr/>
        </p:nvSpPr>
        <p:spPr>
          <a:xfrm>
            <a:off x="292622" y="4790255"/>
            <a:ext cx="2389239" cy="830997"/>
          </a:xfrm>
          <a:prstGeom prst="rect">
            <a:avLst/>
          </a:prstGeom>
          <a:noFill/>
        </p:spPr>
        <p:txBody>
          <a:bodyPr wrap="square" rtlCol="0">
            <a:spAutoFit/>
          </a:bodyPr>
          <a:lstStyle/>
          <a:p>
            <a:pPr algn="ctr"/>
            <a:r>
              <a:rPr lang="sv-SE" sz="1600" dirty="0">
                <a:solidFill>
                  <a:srgbClr val="002060"/>
                </a:solidFill>
                <a:latin typeface="Bookman Old Style" panose="02050604050505020204" pitchFamily="18" charset="0"/>
              </a:rPr>
              <a:t>Dr. Krishnappa H K</a:t>
            </a:r>
          </a:p>
          <a:p>
            <a:pPr algn="ctr"/>
            <a:r>
              <a:rPr lang="sv-SE" sz="1600" dirty="0">
                <a:solidFill>
                  <a:srgbClr val="002060"/>
                </a:solidFill>
                <a:latin typeface="Bookman Old Style" panose="02050604050505020204" pitchFamily="18" charset="0"/>
              </a:rPr>
              <a:t>Professor-CSE Department</a:t>
            </a:r>
          </a:p>
        </p:txBody>
      </p:sp>
      <p:sp>
        <p:nvSpPr>
          <p:cNvPr id="17" name="TextBox 16">
            <a:extLst>
              <a:ext uri="{FF2B5EF4-FFF2-40B4-BE49-F238E27FC236}">
                <a16:creationId xmlns:a16="http://schemas.microsoft.com/office/drawing/2014/main" id="{A715F56D-9CD0-384B-8128-9095B5F14FC7}"/>
              </a:ext>
            </a:extLst>
          </p:cNvPr>
          <p:cNvSpPr txBox="1"/>
          <p:nvPr/>
        </p:nvSpPr>
        <p:spPr>
          <a:xfrm>
            <a:off x="7988995" y="5898301"/>
            <a:ext cx="2569986" cy="523220"/>
          </a:xfrm>
          <a:prstGeom prst="rect">
            <a:avLst/>
          </a:prstGeom>
          <a:noFill/>
        </p:spPr>
        <p:txBody>
          <a:bodyPr wrap="square" rtlCol="0">
            <a:spAutoFit/>
          </a:bodyPr>
          <a:lstStyle/>
          <a:p>
            <a:pPr algn="ctr"/>
            <a:r>
              <a:rPr lang="en-IN" dirty="0">
                <a:solidFill>
                  <a:srgbClr val="002060"/>
                </a:solidFill>
              </a:rPr>
              <a:t>Rohith S Panchamukhi (1RV24CS234)</a:t>
            </a:r>
          </a:p>
        </p:txBody>
      </p:sp>
      <p:sp>
        <p:nvSpPr>
          <p:cNvPr id="18" name="TextBox 17">
            <a:extLst>
              <a:ext uri="{FF2B5EF4-FFF2-40B4-BE49-F238E27FC236}">
                <a16:creationId xmlns:a16="http://schemas.microsoft.com/office/drawing/2014/main" id="{F2B2C02D-66F0-35A2-DF53-6C65C86ED70E}"/>
              </a:ext>
            </a:extLst>
          </p:cNvPr>
          <p:cNvSpPr txBox="1"/>
          <p:nvPr/>
        </p:nvSpPr>
        <p:spPr>
          <a:xfrm>
            <a:off x="2989006" y="3028888"/>
            <a:ext cx="2769054" cy="523220"/>
          </a:xfrm>
          <a:prstGeom prst="rect">
            <a:avLst/>
          </a:prstGeom>
          <a:noFill/>
        </p:spPr>
        <p:txBody>
          <a:bodyPr wrap="square" rtlCol="0">
            <a:spAutoFit/>
          </a:bodyPr>
          <a:lstStyle/>
          <a:p>
            <a:pPr algn="ctr"/>
            <a:r>
              <a:rPr lang="en-IN" dirty="0">
                <a:solidFill>
                  <a:srgbClr val="002060"/>
                </a:solidFill>
              </a:rPr>
              <a:t>Avyaya S </a:t>
            </a:r>
            <a:r>
              <a:rPr lang="en-IN" dirty="0" err="1">
                <a:solidFill>
                  <a:srgbClr val="002060"/>
                </a:solidFill>
              </a:rPr>
              <a:t>Yekkar</a:t>
            </a:r>
            <a:endParaRPr lang="en-IN" dirty="0">
              <a:solidFill>
                <a:srgbClr val="002060"/>
              </a:solidFill>
            </a:endParaRPr>
          </a:p>
          <a:p>
            <a:pPr algn="ctr"/>
            <a:r>
              <a:rPr lang="en-IN" dirty="0">
                <a:solidFill>
                  <a:srgbClr val="002060"/>
                </a:solidFill>
              </a:rPr>
              <a:t>(1RV24CS057)</a:t>
            </a:r>
          </a:p>
        </p:txBody>
      </p:sp>
      <p:sp>
        <p:nvSpPr>
          <p:cNvPr id="19" name="TextBox 18">
            <a:extLst>
              <a:ext uri="{FF2B5EF4-FFF2-40B4-BE49-F238E27FC236}">
                <a16:creationId xmlns:a16="http://schemas.microsoft.com/office/drawing/2014/main" id="{43627460-B34B-BEB8-39CB-233763D21503}"/>
              </a:ext>
            </a:extLst>
          </p:cNvPr>
          <p:cNvSpPr txBox="1"/>
          <p:nvPr/>
        </p:nvSpPr>
        <p:spPr>
          <a:xfrm>
            <a:off x="7758113" y="3090300"/>
            <a:ext cx="2569986" cy="523220"/>
          </a:xfrm>
          <a:prstGeom prst="rect">
            <a:avLst/>
          </a:prstGeom>
          <a:noFill/>
        </p:spPr>
        <p:txBody>
          <a:bodyPr wrap="square" rtlCol="0">
            <a:spAutoFit/>
          </a:bodyPr>
          <a:lstStyle/>
          <a:p>
            <a:pPr algn="ctr"/>
            <a:r>
              <a:rPr lang="en-IN" dirty="0">
                <a:solidFill>
                  <a:srgbClr val="002060"/>
                </a:solidFill>
              </a:rPr>
              <a:t>Stavan Rahul </a:t>
            </a:r>
            <a:r>
              <a:rPr lang="en-IN" dirty="0" err="1">
                <a:solidFill>
                  <a:srgbClr val="002060"/>
                </a:solidFill>
              </a:rPr>
              <a:t>Khobare</a:t>
            </a:r>
            <a:r>
              <a:rPr lang="en-IN" dirty="0">
                <a:solidFill>
                  <a:srgbClr val="002060"/>
                </a:solidFill>
              </a:rPr>
              <a:t> (1RV24CS284)</a:t>
            </a:r>
          </a:p>
        </p:txBody>
      </p:sp>
      <p:sp>
        <p:nvSpPr>
          <p:cNvPr id="20" name="TextBox 19">
            <a:extLst>
              <a:ext uri="{FF2B5EF4-FFF2-40B4-BE49-F238E27FC236}">
                <a16:creationId xmlns:a16="http://schemas.microsoft.com/office/drawing/2014/main" id="{50C4BD42-7715-35CC-2FD1-46CF331911B7}"/>
              </a:ext>
            </a:extLst>
          </p:cNvPr>
          <p:cNvSpPr txBox="1"/>
          <p:nvPr/>
        </p:nvSpPr>
        <p:spPr>
          <a:xfrm>
            <a:off x="3188074" y="5779071"/>
            <a:ext cx="2569986" cy="523220"/>
          </a:xfrm>
          <a:prstGeom prst="rect">
            <a:avLst/>
          </a:prstGeom>
          <a:noFill/>
        </p:spPr>
        <p:txBody>
          <a:bodyPr wrap="square" rtlCol="0">
            <a:spAutoFit/>
          </a:bodyPr>
          <a:lstStyle/>
          <a:p>
            <a:pPr algn="ctr"/>
            <a:r>
              <a:rPr lang="en-IN" dirty="0">
                <a:solidFill>
                  <a:srgbClr val="002060"/>
                </a:solidFill>
              </a:rPr>
              <a:t>Kaizen S</a:t>
            </a:r>
          </a:p>
          <a:p>
            <a:pPr algn="ctr"/>
            <a:r>
              <a:rPr lang="en-IN" dirty="0">
                <a:solidFill>
                  <a:srgbClr val="002060"/>
                </a:solidFill>
              </a:rPr>
              <a:t>(1RV24CY025 )</a:t>
            </a:r>
          </a:p>
        </p:txBody>
      </p:sp>
      <p:sp>
        <p:nvSpPr>
          <p:cNvPr id="3" name="TextBox 2">
            <a:extLst>
              <a:ext uri="{FF2B5EF4-FFF2-40B4-BE49-F238E27FC236}">
                <a16:creationId xmlns:a16="http://schemas.microsoft.com/office/drawing/2014/main" id="{1E1B2446-D378-462E-A53A-44BFF1778A80}"/>
              </a:ext>
            </a:extLst>
          </p:cNvPr>
          <p:cNvSpPr txBox="1"/>
          <p:nvPr/>
        </p:nvSpPr>
        <p:spPr>
          <a:xfrm>
            <a:off x="88490" y="6302291"/>
            <a:ext cx="2458065" cy="338554"/>
          </a:xfrm>
          <a:prstGeom prst="rect">
            <a:avLst/>
          </a:prstGeom>
          <a:noFill/>
        </p:spPr>
        <p:txBody>
          <a:bodyPr wrap="square" rtlCol="0">
            <a:spAutoFit/>
          </a:bodyPr>
          <a:lstStyle/>
          <a:p>
            <a:r>
              <a:rPr lang="en-US" sz="1600" b="1" dirty="0">
                <a:solidFill>
                  <a:srgbClr val="FF0000"/>
                </a:solidFill>
                <a:latin typeface="Bookman Old Style" panose="02050604050505020204" pitchFamily="18" charset="0"/>
              </a:rPr>
              <a:t>1</a:t>
            </a:r>
            <a:r>
              <a:rPr lang="en-US" sz="1600" b="1" baseline="30000" dirty="0">
                <a:solidFill>
                  <a:srgbClr val="FF0000"/>
                </a:solidFill>
                <a:latin typeface="Bookman Old Style" panose="02050604050505020204" pitchFamily="18" charset="0"/>
              </a:rPr>
              <a:t>st</a:t>
            </a:r>
            <a:r>
              <a:rPr lang="en-US" sz="1600" b="1" dirty="0">
                <a:solidFill>
                  <a:srgbClr val="FF0000"/>
                </a:solidFill>
                <a:latin typeface="Bookman Old Style" panose="02050604050505020204" pitchFamily="18" charset="0"/>
              </a:rPr>
              <a:t> April, 2026</a:t>
            </a:r>
            <a:endParaRPr lang="en-IN" sz="1600" b="1" dirty="0">
              <a:solidFill>
                <a:srgbClr val="FF0000"/>
              </a:solidFill>
              <a:latin typeface="Bookman Old Style" panose="0205060405050502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2" name="Google Shape;142;p4"/>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3</a:t>
            </a:fld>
            <a:endParaRPr/>
          </a:p>
        </p:txBody>
      </p:sp>
      <p:sp>
        <p:nvSpPr>
          <p:cNvPr id="143" name="Google Shape;143;p4"/>
          <p:cNvSpPr txBox="1"/>
          <p:nvPr/>
        </p:nvSpPr>
        <p:spPr>
          <a:xfrm>
            <a:off x="2339498" y="178833"/>
            <a:ext cx="8551282" cy="638693"/>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3200"/>
              <a:buFont typeface="Calibri"/>
              <a:buNone/>
            </a:pPr>
            <a:endParaRPr sz="3200" b="1">
              <a:solidFill>
                <a:srgbClr val="C00000"/>
              </a:solidFill>
              <a:latin typeface="Calibri"/>
              <a:ea typeface="Calibri"/>
              <a:cs typeface="Calibri"/>
              <a:sym typeface="Calibri"/>
            </a:endParaRPr>
          </a:p>
        </p:txBody>
      </p:sp>
      <p:sp>
        <p:nvSpPr>
          <p:cNvPr id="144" name="Google Shape;144;p4"/>
          <p:cNvSpPr txBox="1"/>
          <p:nvPr/>
        </p:nvSpPr>
        <p:spPr>
          <a:xfrm>
            <a:off x="2182762" y="89747"/>
            <a:ext cx="8151863" cy="1319953"/>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EL Phase-I</a:t>
            </a:r>
            <a:endParaRPr/>
          </a:p>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Presentation Outline</a:t>
            </a:r>
            <a:endParaRPr/>
          </a:p>
        </p:txBody>
      </p:sp>
      <p:sp>
        <p:nvSpPr>
          <p:cNvPr id="145" name="Google Shape;145;p4"/>
          <p:cNvSpPr txBox="1">
            <a:spLocks noGrp="1"/>
          </p:cNvSpPr>
          <p:nvPr>
            <p:ph type="body" idx="1"/>
          </p:nvPr>
        </p:nvSpPr>
        <p:spPr>
          <a:xfrm>
            <a:off x="575733" y="1666874"/>
            <a:ext cx="11441457" cy="4510087"/>
          </a:xfrm>
          <a:prstGeom prst="rect">
            <a:avLst/>
          </a:prstGeom>
          <a:noFill/>
          <a:ln>
            <a:noFill/>
          </a:ln>
        </p:spPr>
        <p:txBody>
          <a:bodyPr spcFirstLastPara="1" wrap="square" lIns="91425" tIns="45700" rIns="91425" bIns="45700" anchor="t" anchorCtr="0">
            <a:normAutofit fontScale="92500" lnSpcReduction="10000"/>
          </a:bodyPr>
          <a:lstStyle/>
          <a:p>
            <a:pPr marL="228600" lvl="0" indent="-228600" algn="l" rtl="0">
              <a:lnSpc>
                <a:spcPct val="90000"/>
              </a:lnSpc>
              <a:spcBef>
                <a:spcPts val="0"/>
              </a:spcBef>
              <a:spcAft>
                <a:spcPts val="0"/>
              </a:spcAft>
              <a:buClr>
                <a:srgbClr val="002060"/>
              </a:buClr>
              <a:buSzPts val="2800"/>
              <a:buChar char="•"/>
            </a:pPr>
            <a:r>
              <a:rPr lang="en-IN" dirty="0">
                <a:solidFill>
                  <a:srgbClr val="FF0000"/>
                </a:solidFill>
              </a:rPr>
              <a:t>Introduction</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Literature Review</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Problem Definition</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Objectives</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Methodology</a:t>
            </a:r>
          </a:p>
          <a:p>
            <a:pPr marL="228600" indent="-228600"/>
            <a:r>
              <a:rPr lang="en-US" dirty="0">
                <a:solidFill>
                  <a:srgbClr val="FF0000"/>
                </a:solidFill>
              </a:rPr>
              <a:t>Subject Relevance</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Proposed Outcomes</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Timeline of the project</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Conclusion</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References</a:t>
            </a:r>
            <a:endParaRPr dirty="0">
              <a:solidFill>
                <a:srgbClr val="FF0000"/>
              </a:solidFill>
            </a:endParaRPr>
          </a:p>
        </p:txBody>
      </p:sp>
      <p:sp>
        <p:nvSpPr>
          <p:cNvPr id="2" name="TextBox 1">
            <a:extLst>
              <a:ext uri="{FF2B5EF4-FFF2-40B4-BE49-F238E27FC236}">
                <a16:creationId xmlns:a16="http://schemas.microsoft.com/office/drawing/2014/main" id="{E9F9F412-5BEE-8E78-E063-4994B3E37CE8}"/>
              </a:ext>
            </a:extLst>
          </p:cNvPr>
          <p:cNvSpPr txBox="1"/>
          <p:nvPr/>
        </p:nvSpPr>
        <p:spPr>
          <a:xfrm>
            <a:off x="88490" y="6302291"/>
            <a:ext cx="2458065" cy="338554"/>
          </a:xfrm>
          <a:prstGeom prst="rect">
            <a:avLst/>
          </a:prstGeom>
          <a:noFill/>
        </p:spPr>
        <p:txBody>
          <a:bodyPr wrap="square" rtlCol="0">
            <a:spAutoFit/>
          </a:bodyPr>
          <a:lstStyle/>
          <a:p>
            <a:r>
              <a:rPr lang="en-US" sz="1600" b="1" dirty="0">
                <a:solidFill>
                  <a:srgbClr val="FF0000"/>
                </a:solidFill>
                <a:latin typeface="Bookman Old Style" panose="02050604050505020204" pitchFamily="18" charset="0"/>
              </a:rPr>
              <a:t>1</a:t>
            </a:r>
            <a:r>
              <a:rPr lang="en-US" sz="1600" b="1" baseline="30000" dirty="0">
                <a:solidFill>
                  <a:srgbClr val="FF0000"/>
                </a:solidFill>
                <a:latin typeface="Bookman Old Style" panose="02050604050505020204" pitchFamily="18" charset="0"/>
              </a:rPr>
              <a:t>st</a:t>
            </a:r>
            <a:r>
              <a:rPr lang="en-US" sz="1600" b="1" dirty="0">
                <a:solidFill>
                  <a:srgbClr val="FF0000"/>
                </a:solidFill>
                <a:latin typeface="Bookman Old Style" panose="02050604050505020204" pitchFamily="18" charset="0"/>
              </a:rPr>
              <a:t> April, 2026</a:t>
            </a:r>
            <a:endParaRPr lang="en-IN" sz="1600" b="1" dirty="0">
              <a:solidFill>
                <a:srgbClr val="FF0000"/>
              </a:solidFill>
              <a:latin typeface="Bookman Old Style" panose="0205060405050502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5"/>
          <p:cNvSpPr txBox="1">
            <a:spLocks noGrp="1"/>
          </p:cNvSpPr>
          <p:nvPr>
            <p:ph type="body" idx="1"/>
          </p:nvPr>
        </p:nvSpPr>
        <p:spPr>
          <a:xfrm>
            <a:off x="174813" y="1258282"/>
            <a:ext cx="11842377" cy="4918680"/>
          </a:xfrm>
          <a:prstGeom prst="rect">
            <a:avLst/>
          </a:prstGeom>
          <a:noFill/>
          <a:ln>
            <a:noFill/>
          </a:ln>
        </p:spPr>
        <p:txBody>
          <a:bodyPr spcFirstLastPara="1" wrap="square" lIns="91425" tIns="45700" rIns="91425" bIns="45700" anchor="t" anchorCtr="0">
            <a:noAutofit/>
          </a:bodyPr>
          <a:lstStyle/>
          <a:p>
            <a:pPr marL="228600" indent="-228600" algn="just">
              <a:lnSpc>
                <a:spcPct val="150000"/>
              </a:lnSpc>
              <a:spcBef>
                <a:spcPts val="0"/>
              </a:spcBef>
            </a:pPr>
            <a:r>
              <a:rPr lang="en-US" sz="1800" b="1" dirty="0">
                <a:latin typeface="Bookman Old Style" panose="02050604050505020204" pitchFamily="18" charset="0"/>
              </a:rPr>
              <a:t>Explainable Federated Learning Framework for Early Epidemic Forecasting </a:t>
            </a:r>
            <a:r>
              <a:rPr lang="en-US" sz="1800" dirty="0"/>
              <a:t>is a privacy-preserving artificial intelligence framework that enables multiple healthcare institutions to collaboratively predict dengue and malaria outbreaks without sharing sensitive patient data. By integrating federated learning, temporal graph neural networks, and automated text anonymization, the system provides actionable outbreak forecasts with built-in explanations, directly supporting SDG 3.3 (combating epidemics) and SDG 3.8 (universal health coverage).</a:t>
            </a:r>
          </a:p>
          <a:p>
            <a:pPr marL="228600" lvl="0" indent="-228600" algn="just">
              <a:lnSpc>
                <a:spcPct val="150000"/>
              </a:lnSpc>
              <a:spcBef>
                <a:spcPts val="0"/>
              </a:spcBef>
            </a:pPr>
            <a:r>
              <a:rPr lang="en-US" sz="1800" dirty="0"/>
              <a:t>Dengue and malaria collectively affect over 400 million people annually, yet current surveillance systems detect outbreaks only after widespread transmission, missing critical opportunities for early intervention.</a:t>
            </a:r>
          </a:p>
          <a:p>
            <a:pPr marL="228600" lvl="0" indent="-228600" algn="just">
              <a:lnSpc>
                <a:spcPct val="150000"/>
              </a:lnSpc>
              <a:spcBef>
                <a:spcPts val="0"/>
              </a:spcBef>
            </a:pPr>
            <a:r>
              <a:rPr lang="en-US" sz="1800" dirty="0"/>
              <a:t>Privacy regulations prevent hospitals from sharing patient data, creating isolated silos that hide cross-institutional outbreak patterns a gap this framework bridges through federated learning without compromising data sovereignty.</a:t>
            </a:r>
          </a:p>
          <a:p>
            <a:pPr marL="228600" lvl="0" indent="-228600" algn="just">
              <a:lnSpc>
                <a:spcPct val="150000"/>
              </a:lnSpc>
              <a:spcBef>
                <a:spcPts val="0"/>
              </a:spcBef>
            </a:pPr>
            <a:endParaRPr sz="1800" dirty="0"/>
          </a:p>
        </p:txBody>
      </p:sp>
      <p:sp>
        <p:nvSpPr>
          <p:cNvPr id="152" name="Google Shape;152;p5"/>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IN"/>
              <a:t>Slide No. </a:t>
            </a:r>
            <a:fld id="{00000000-1234-1234-1234-123412341234}" type="slidenum">
              <a:rPr lang="en-IN"/>
              <a:t>4</a:t>
            </a:fld>
            <a:endParaRPr/>
          </a:p>
        </p:txBody>
      </p:sp>
      <p:sp>
        <p:nvSpPr>
          <p:cNvPr id="153" name="Google Shape;153;p5"/>
          <p:cNvSpPr txBox="1"/>
          <p:nvPr/>
        </p:nvSpPr>
        <p:spPr>
          <a:xfrm>
            <a:off x="1386895" y="145670"/>
            <a:ext cx="9834426" cy="839401"/>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Introduction</a:t>
            </a:r>
            <a:endParaRPr sz="4000" b="1">
              <a:solidFill>
                <a:srgbClr val="C00000"/>
              </a:solidFill>
              <a:latin typeface="Bookman Old Style"/>
              <a:ea typeface="Bookman Old Style"/>
              <a:cs typeface="Bookman Old Style"/>
              <a:sym typeface="Bookman Old Style"/>
            </a:endParaRPr>
          </a:p>
        </p:txBody>
      </p:sp>
      <p:sp>
        <p:nvSpPr>
          <p:cNvPr id="2" name="TextBox 1">
            <a:extLst>
              <a:ext uri="{FF2B5EF4-FFF2-40B4-BE49-F238E27FC236}">
                <a16:creationId xmlns:a16="http://schemas.microsoft.com/office/drawing/2014/main" id="{F10F63AC-388B-F509-EB13-D2E917601326}"/>
              </a:ext>
            </a:extLst>
          </p:cNvPr>
          <p:cNvSpPr txBox="1"/>
          <p:nvPr/>
        </p:nvSpPr>
        <p:spPr>
          <a:xfrm>
            <a:off x="88490" y="6302291"/>
            <a:ext cx="2458065" cy="338554"/>
          </a:xfrm>
          <a:prstGeom prst="rect">
            <a:avLst/>
          </a:prstGeom>
          <a:noFill/>
        </p:spPr>
        <p:txBody>
          <a:bodyPr wrap="square" rtlCol="0">
            <a:spAutoFit/>
          </a:bodyPr>
          <a:lstStyle/>
          <a:p>
            <a:r>
              <a:rPr lang="en-US" sz="1600" b="1" dirty="0">
                <a:solidFill>
                  <a:srgbClr val="FF0000"/>
                </a:solidFill>
                <a:latin typeface="Bookman Old Style" panose="02050604050505020204" pitchFamily="18" charset="0"/>
              </a:rPr>
              <a:t>1</a:t>
            </a:r>
            <a:r>
              <a:rPr lang="en-US" sz="1600" b="1" baseline="30000" dirty="0">
                <a:solidFill>
                  <a:srgbClr val="FF0000"/>
                </a:solidFill>
                <a:latin typeface="Bookman Old Style" panose="02050604050505020204" pitchFamily="18" charset="0"/>
              </a:rPr>
              <a:t>st</a:t>
            </a:r>
            <a:r>
              <a:rPr lang="en-US" sz="1600" b="1" dirty="0">
                <a:solidFill>
                  <a:srgbClr val="FF0000"/>
                </a:solidFill>
                <a:latin typeface="Bookman Old Style" panose="02050604050505020204" pitchFamily="18" charset="0"/>
              </a:rPr>
              <a:t> April, 2026</a:t>
            </a:r>
            <a:endParaRPr lang="en-IN" sz="1600" b="1" dirty="0">
              <a:solidFill>
                <a:srgbClr val="FF0000"/>
              </a:solidFill>
              <a:latin typeface="Bookman Old Style" panose="020506040505050202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60" name="Google Shape;160;p6"/>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5</a:t>
            </a:fld>
            <a:endParaRPr/>
          </a:p>
        </p:txBody>
      </p:sp>
      <p:sp>
        <p:nvSpPr>
          <p:cNvPr id="161" name="Google Shape;161;p6"/>
          <p:cNvSpPr txBox="1"/>
          <p:nvPr/>
        </p:nvSpPr>
        <p:spPr>
          <a:xfrm>
            <a:off x="1710268" y="89747"/>
            <a:ext cx="9939866" cy="943186"/>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dirty="0">
                <a:solidFill>
                  <a:srgbClr val="C00000"/>
                </a:solidFill>
                <a:latin typeface="Bookman Old Style"/>
                <a:ea typeface="Bookman Old Style"/>
                <a:cs typeface="Bookman Old Style"/>
                <a:sym typeface="Bookman Old Style"/>
              </a:rPr>
              <a:t>Literature Review</a:t>
            </a:r>
            <a:endParaRPr dirty="0"/>
          </a:p>
        </p:txBody>
      </p:sp>
      <p:pic>
        <p:nvPicPr>
          <p:cNvPr id="3" name="Picture 2">
            <a:extLst>
              <a:ext uri="{FF2B5EF4-FFF2-40B4-BE49-F238E27FC236}">
                <a16:creationId xmlns:a16="http://schemas.microsoft.com/office/drawing/2014/main" id="{2DBCC3F5-3297-1D58-635E-84853C55AB4A}"/>
              </a:ext>
            </a:extLst>
          </p:cNvPr>
          <p:cNvPicPr>
            <a:picLocks noChangeAspect="1"/>
          </p:cNvPicPr>
          <p:nvPr/>
        </p:nvPicPr>
        <p:blipFill>
          <a:blip r:embed="rId3"/>
          <a:stretch>
            <a:fillRect/>
          </a:stretch>
        </p:blipFill>
        <p:spPr>
          <a:xfrm>
            <a:off x="532908" y="1181092"/>
            <a:ext cx="11117226" cy="4934572"/>
          </a:xfrm>
          <a:prstGeom prst="rect">
            <a:avLst/>
          </a:prstGeom>
        </p:spPr>
      </p:pic>
      <p:sp>
        <p:nvSpPr>
          <p:cNvPr id="4" name="TextBox 3">
            <a:extLst>
              <a:ext uri="{FF2B5EF4-FFF2-40B4-BE49-F238E27FC236}">
                <a16:creationId xmlns:a16="http://schemas.microsoft.com/office/drawing/2014/main" id="{76BF5062-B6B5-F30C-7C64-BAD99775709A}"/>
              </a:ext>
            </a:extLst>
          </p:cNvPr>
          <p:cNvSpPr txBox="1"/>
          <p:nvPr/>
        </p:nvSpPr>
        <p:spPr>
          <a:xfrm>
            <a:off x="88490" y="6302291"/>
            <a:ext cx="2458065" cy="338554"/>
          </a:xfrm>
          <a:prstGeom prst="rect">
            <a:avLst/>
          </a:prstGeom>
          <a:noFill/>
        </p:spPr>
        <p:txBody>
          <a:bodyPr wrap="square" rtlCol="0">
            <a:spAutoFit/>
          </a:bodyPr>
          <a:lstStyle/>
          <a:p>
            <a:r>
              <a:rPr lang="en-US" sz="1600" b="1" dirty="0">
                <a:solidFill>
                  <a:srgbClr val="FF0000"/>
                </a:solidFill>
                <a:latin typeface="Bookman Old Style" panose="02050604050505020204" pitchFamily="18" charset="0"/>
              </a:rPr>
              <a:t>1</a:t>
            </a:r>
            <a:r>
              <a:rPr lang="en-US" sz="1600" b="1" baseline="30000" dirty="0">
                <a:solidFill>
                  <a:srgbClr val="FF0000"/>
                </a:solidFill>
                <a:latin typeface="Bookman Old Style" panose="02050604050505020204" pitchFamily="18" charset="0"/>
              </a:rPr>
              <a:t>st</a:t>
            </a:r>
            <a:r>
              <a:rPr lang="en-US" sz="1600" b="1" dirty="0">
                <a:solidFill>
                  <a:srgbClr val="FF0000"/>
                </a:solidFill>
                <a:latin typeface="Bookman Old Style" panose="02050604050505020204" pitchFamily="18" charset="0"/>
              </a:rPr>
              <a:t> April, 2026</a:t>
            </a:r>
            <a:endParaRPr lang="en-IN" sz="1600" b="1" dirty="0">
              <a:solidFill>
                <a:srgbClr val="FF0000"/>
              </a:solidFill>
              <a:latin typeface="Bookman Old Style" panose="020506040505050202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548FAC6-98B0-2FAA-18C2-DB1A3AD48B8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6</a:t>
            </a:fld>
            <a:endParaRPr lang="en-IN"/>
          </a:p>
        </p:txBody>
      </p:sp>
      <p:sp>
        <p:nvSpPr>
          <p:cNvPr id="5" name="Google Shape;161;p6">
            <a:extLst>
              <a:ext uri="{FF2B5EF4-FFF2-40B4-BE49-F238E27FC236}">
                <a16:creationId xmlns:a16="http://schemas.microsoft.com/office/drawing/2014/main" id="{04953797-3B38-818E-E51E-9107DA0DE12B}"/>
              </a:ext>
            </a:extLst>
          </p:cNvPr>
          <p:cNvSpPr txBox="1"/>
          <p:nvPr/>
        </p:nvSpPr>
        <p:spPr>
          <a:xfrm>
            <a:off x="1710268" y="89747"/>
            <a:ext cx="9939866" cy="943186"/>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dirty="0">
                <a:solidFill>
                  <a:srgbClr val="C00000"/>
                </a:solidFill>
                <a:latin typeface="Bookman Old Style"/>
                <a:ea typeface="Bookman Old Style"/>
                <a:cs typeface="Bookman Old Style"/>
                <a:sym typeface="Bookman Old Style"/>
              </a:rPr>
              <a:t>Literature Review</a:t>
            </a:r>
            <a:endParaRPr dirty="0"/>
          </a:p>
        </p:txBody>
      </p:sp>
      <p:pic>
        <p:nvPicPr>
          <p:cNvPr id="3" name="Picture 2">
            <a:extLst>
              <a:ext uri="{FF2B5EF4-FFF2-40B4-BE49-F238E27FC236}">
                <a16:creationId xmlns:a16="http://schemas.microsoft.com/office/drawing/2014/main" id="{3FF6A491-B04F-2FB0-4286-8059C83809B1}"/>
              </a:ext>
            </a:extLst>
          </p:cNvPr>
          <p:cNvPicPr>
            <a:picLocks noChangeAspect="1"/>
          </p:cNvPicPr>
          <p:nvPr/>
        </p:nvPicPr>
        <p:blipFill>
          <a:blip r:embed="rId2"/>
          <a:stretch>
            <a:fillRect/>
          </a:stretch>
        </p:blipFill>
        <p:spPr>
          <a:xfrm>
            <a:off x="489755" y="1586921"/>
            <a:ext cx="11212490" cy="3978137"/>
          </a:xfrm>
          <a:prstGeom prst="rect">
            <a:avLst/>
          </a:prstGeom>
        </p:spPr>
      </p:pic>
      <p:sp>
        <p:nvSpPr>
          <p:cNvPr id="6" name="TextBox 5">
            <a:extLst>
              <a:ext uri="{FF2B5EF4-FFF2-40B4-BE49-F238E27FC236}">
                <a16:creationId xmlns:a16="http://schemas.microsoft.com/office/drawing/2014/main" id="{2B74B867-A0CF-3A4A-5A3B-BF03C3D0A400}"/>
              </a:ext>
            </a:extLst>
          </p:cNvPr>
          <p:cNvSpPr txBox="1"/>
          <p:nvPr/>
        </p:nvSpPr>
        <p:spPr>
          <a:xfrm>
            <a:off x="88490" y="6302291"/>
            <a:ext cx="2458065" cy="338554"/>
          </a:xfrm>
          <a:prstGeom prst="rect">
            <a:avLst/>
          </a:prstGeom>
          <a:noFill/>
        </p:spPr>
        <p:txBody>
          <a:bodyPr wrap="square" rtlCol="0">
            <a:spAutoFit/>
          </a:bodyPr>
          <a:lstStyle/>
          <a:p>
            <a:r>
              <a:rPr lang="en-US" sz="1600" b="1" dirty="0">
                <a:solidFill>
                  <a:srgbClr val="FF0000"/>
                </a:solidFill>
                <a:latin typeface="Bookman Old Style" panose="02050604050505020204" pitchFamily="18" charset="0"/>
              </a:rPr>
              <a:t>1</a:t>
            </a:r>
            <a:r>
              <a:rPr lang="en-US" sz="1600" b="1" baseline="30000" dirty="0">
                <a:solidFill>
                  <a:srgbClr val="FF0000"/>
                </a:solidFill>
                <a:latin typeface="Bookman Old Style" panose="02050604050505020204" pitchFamily="18" charset="0"/>
              </a:rPr>
              <a:t>st</a:t>
            </a:r>
            <a:r>
              <a:rPr lang="en-US" sz="1600" b="1" dirty="0">
                <a:solidFill>
                  <a:srgbClr val="FF0000"/>
                </a:solidFill>
                <a:latin typeface="Bookman Old Style" panose="02050604050505020204" pitchFamily="18" charset="0"/>
              </a:rPr>
              <a:t> April, 2026</a:t>
            </a:r>
            <a:endParaRPr lang="en-IN" sz="1600" b="1" dirty="0">
              <a:solidFill>
                <a:srgbClr val="FF0000"/>
              </a:solidFill>
              <a:latin typeface="Bookman Old Style" panose="02050604050505020204" pitchFamily="18" charset="0"/>
            </a:endParaRPr>
          </a:p>
        </p:txBody>
      </p:sp>
    </p:spTree>
    <p:extLst>
      <p:ext uri="{BB962C8B-B14F-4D97-AF65-F5344CB8AC3E}">
        <p14:creationId xmlns:p14="http://schemas.microsoft.com/office/powerpoint/2010/main" val="38847418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7"/>
          <p:cNvSpPr txBox="1">
            <a:spLocks noGrp="1"/>
          </p:cNvSpPr>
          <p:nvPr>
            <p:ph type="body" idx="1"/>
          </p:nvPr>
        </p:nvSpPr>
        <p:spPr>
          <a:xfrm>
            <a:off x="174811" y="1441451"/>
            <a:ext cx="11842377" cy="3849636"/>
          </a:xfrm>
          <a:prstGeom prst="rect">
            <a:avLst/>
          </a:prstGeom>
          <a:noFill/>
          <a:ln>
            <a:noFill/>
          </a:ln>
        </p:spPr>
        <p:txBody>
          <a:bodyPr spcFirstLastPara="1" wrap="square" lIns="91425" tIns="45700" rIns="91425" bIns="45700" anchor="t" anchorCtr="0">
            <a:noAutofit/>
          </a:bodyPr>
          <a:lstStyle/>
          <a:p>
            <a:pPr marL="228600" lvl="0" indent="-228600" algn="just">
              <a:lnSpc>
                <a:spcPct val="150000"/>
              </a:lnSpc>
              <a:spcBef>
                <a:spcPts val="0"/>
              </a:spcBef>
            </a:pPr>
            <a:r>
              <a:rPr lang="en-IN" sz="2200" b="1" dirty="0"/>
              <a:t>Clear statement of the problem: </a:t>
            </a:r>
            <a:r>
              <a:rPr lang="en-US" sz="2200" dirty="0"/>
              <a:t>Existing outbreak prediction systems for dengue and malaria are limited by centralized learning approaches, lack of privacy preservation, insufficient spatio-temporal modeling, and minimal explainability. These limitations make it difficult to generate early, accurate, and interpretable outbreak forecasts using distributed healthcare data from multiple institutions. Therefore, there is a need for a unified framework that can securely integrate multi-source data and provide reliable predictions for timely public health intervention.</a:t>
            </a:r>
            <a:endParaRPr sz="2200" dirty="0"/>
          </a:p>
        </p:txBody>
      </p:sp>
      <p:sp>
        <p:nvSpPr>
          <p:cNvPr id="168" name="Google Shape;168;p7"/>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7</a:t>
            </a:fld>
            <a:endParaRPr/>
          </a:p>
        </p:txBody>
      </p:sp>
      <p:sp>
        <p:nvSpPr>
          <p:cNvPr id="169" name="Google Shape;169;p7"/>
          <p:cNvSpPr txBox="1"/>
          <p:nvPr/>
        </p:nvSpPr>
        <p:spPr>
          <a:xfrm>
            <a:off x="1503705" y="0"/>
            <a:ext cx="10227733" cy="1076325"/>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3600" b="1" dirty="0">
                <a:solidFill>
                  <a:srgbClr val="C00000"/>
                </a:solidFill>
                <a:latin typeface="Bookman Old Style"/>
                <a:ea typeface="Bookman Old Style"/>
                <a:cs typeface="Bookman Old Style"/>
                <a:sym typeface="Bookman Old Style"/>
              </a:rPr>
              <a:t>Problem Definition</a:t>
            </a:r>
            <a:endParaRPr sz="3600" b="1" dirty="0">
              <a:solidFill>
                <a:srgbClr val="C00000"/>
              </a:solidFill>
              <a:latin typeface="Bookman Old Style"/>
              <a:ea typeface="Bookman Old Style"/>
              <a:cs typeface="Bookman Old Style"/>
              <a:sym typeface="Bookman Old Style"/>
            </a:endParaRPr>
          </a:p>
        </p:txBody>
      </p:sp>
      <p:sp>
        <p:nvSpPr>
          <p:cNvPr id="2" name="TextBox 1">
            <a:extLst>
              <a:ext uri="{FF2B5EF4-FFF2-40B4-BE49-F238E27FC236}">
                <a16:creationId xmlns:a16="http://schemas.microsoft.com/office/drawing/2014/main" id="{EACC66C3-7DDE-D0CE-39F3-1BAD7F9F0AF4}"/>
              </a:ext>
            </a:extLst>
          </p:cNvPr>
          <p:cNvSpPr txBox="1"/>
          <p:nvPr/>
        </p:nvSpPr>
        <p:spPr>
          <a:xfrm>
            <a:off x="88490" y="6302291"/>
            <a:ext cx="2458065" cy="338554"/>
          </a:xfrm>
          <a:prstGeom prst="rect">
            <a:avLst/>
          </a:prstGeom>
          <a:noFill/>
        </p:spPr>
        <p:txBody>
          <a:bodyPr wrap="square" rtlCol="0">
            <a:spAutoFit/>
          </a:bodyPr>
          <a:lstStyle/>
          <a:p>
            <a:r>
              <a:rPr lang="en-US" sz="1600" b="1" dirty="0">
                <a:solidFill>
                  <a:srgbClr val="FF0000"/>
                </a:solidFill>
                <a:latin typeface="Bookman Old Style" panose="02050604050505020204" pitchFamily="18" charset="0"/>
              </a:rPr>
              <a:t>1</a:t>
            </a:r>
            <a:r>
              <a:rPr lang="en-US" sz="1600" b="1" baseline="30000" dirty="0">
                <a:solidFill>
                  <a:srgbClr val="FF0000"/>
                </a:solidFill>
                <a:latin typeface="Bookman Old Style" panose="02050604050505020204" pitchFamily="18" charset="0"/>
              </a:rPr>
              <a:t>st</a:t>
            </a:r>
            <a:r>
              <a:rPr lang="en-US" sz="1600" b="1" dirty="0">
                <a:solidFill>
                  <a:srgbClr val="FF0000"/>
                </a:solidFill>
                <a:latin typeface="Bookman Old Style" panose="02050604050505020204" pitchFamily="18" charset="0"/>
              </a:rPr>
              <a:t> April, 2026</a:t>
            </a:r>
            <a:endParaRPr lang="en-IN" sz="1600" b="1" dirty="0">
              <a:solidFill>
                <a:srgbClr val="FF0000"/>
              </a:solidFill>
              <a:latin typeface="Bookman Old Style" panose="020506040505050202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384559D-6306-EC38-9114-F9F97D6E7CB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8</a:t>
            </a:fld>
            <a:endParaRPr lang="en-IN"/>
          </a:p>
        </p:txBody>
      </p:sp>
      <p:sp>
        <p:nvSpPr>
          <p:cNvPr id="5" name="Google Shape;169;p7">
            <a:extLst>
              <a:ext uri="{FF2B5EF4-FFF2-40B4-BE49-F238E27FC236}">
                <a16:creationId xmlns:a16="http://schemas.microsoft.com/office/drawing/2014/main" id="{B4DF2A8A-4828-5A5D-A41C-C70DBBC0E1C5}"/>
              </a:ext>
            </a:extLst>
          </p:cNvPr>
          <p:cNvSpPr txBox="1"/>
          <p:nvPr/>
        </p:nvSpPr>
        <p:spPr>
          <a:xfrm>
            <a:off x="1503705" y="0"/>
            <a:ext cx="10227733" cy="1076325"/>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3600" b="1" dirty="0">
                <a:solidFill>
                  <a:srgbClr val="C00000"/>
                </a:solidFill>
                <a:latin typeface="Bookman Old Style"/>
                <a:ea typeface="Bookman Old Style"/>
                <a:cs typeface="Bookman Old Style"/>
                <a:sym typeface="Bookman Old Style"/>
              </a:rPr>
              <a:t>Problem Definition</a:t>
            </a:r>
            <a:endParaRPr sz="3600" b="1" dirty="0">
              <a:solidFill>
                <a:srgbClr val="C00000"/>
              </a:solidFill>
              <a:latin typeface="Bookman Old Style"/>
              <a:ea typeface="Bookman Old Style"/>
              <a:cs typeface="Bookman Old Style"/>
              <a:sym typeface="Bookman Old Style"/>
            </a:endParaRPr>
          </a:p>
        </p:txBody>
      </p:sp>
      <p:sp>
        <p:nvSpPr>
          <p:cNvPr id="7" name="TextBox 6">
            <a:extLst>
              <a:ext uri="{FF2B5EF4-FFF2-40B4-BE49-F238E27FC236}">
                <a16:creationId xmlns:a16="http://schemas.microsoft.com/office/drawing/2014/main" id="{6F91708A-696F-BDD8-3503-4CB7E5AF46E4}"/>
              </a:ext>
            </a:extLst>
          </p:cNvPr>
          <p:cNvSpPr txBox="1"/>
          <p:nvPr/>
        </p:nvSpPr>
        <p:spPr>
          <a:xfrm>
            <a:off x="196644" y="1351622"/>
            <a:ext cx="11326761" cy="4743991"/>
          </a:xfrm>
          <a:prstGeom prst="rect">
            <a:avLst/>
          </a:prstGeom>
          <a:noFill/>
        </p:spPr>
        <p:txBody>
          <a:bodyPr wrap="square">
            <a:spAutoFit/>
          </a:bodyPr>
          <a:lstStyle/>
          <a:p>
            <a:pPr algn="just">
              <a:lnSpc>
                <a:spcPct val="150000"/>
              </a:lnSpc>
            </a:pPr>
            <a:r>
              <a:rPr lang="en-US" sz="1800" b="1" dirty="0">
                <a:solidFill>
                  <a:srgbClr val="002060"/>
                </a:solidFill>
                <a:latin typeface="Bookman Old Style" panose="02050604050505020204" pitchFamily="18" charset="0"/>
              </a:rPr>
              <a:t>Context of the Problem: </a:t>
            </a:r>
            <a:r>
              <a:rPr lang="en-US" sz="1800" dirty="0">
                <a:solidFill>
                  <a:srgbClr val="002060"/>
                </a:solidFill>
                <a:latin typeface="Bookman Old Style" panose="02050604050505020204" pitchFamily="18" charset="0"/>
              </a:rPr>
              <a:t>Vector-borne diseases like dengue and malaria continue to pose a major global health challenge, particularly in densely populated and climate-sensitive regions. The spread of these diseases is influenced by multiple factors such as weather conditions, population density, hospital case trends, and clinical observations over time. Traditional surveillance approaches primarily rely on historical case counts and manual reporting, which often fail to capture temporal and spatial spread patterns at an early stage.</a:t>
            </a:r>
          </a:p>
          <a:p>
            <a:pPr algn="just">
              <a:lnSpc>
                <a:spcPct val="150000"/>
              </a:lnSpc>
            </a:pPr>
            <a:r>
              <a:rPr lang="en-US" sz="1800" dirty="0">
                <a:solidFill>
                  <a:srgbClr val="002060"/>
                </a:solidFill>
                <a:latin typeface="Bookman Old Style" panose="02050604050505020204" pitchFamily="18" charset="0"/>
              </a:rPr>
              <a:t>Moreover, a large portion of clinically useful information exists in unstructured physician notes and hospital records, which is frequently underutilized by conventional analytical models. Existing AI-based forecasting approaches often lack privacy preservation, interpretability, and fairness considerations, making them less suitable for real-world deployment in healthcare environments.</a:t>
            </a:r>
          </a:p>
          <a:p>
            <a:pPr marL="228600" lvl="0" indent="-228600" algn="just" rtl="0">
              <a:lnSpc>
                <a:spcPct val="150000"/>
              </a:lnSpc>
              <a:spcBef>
                <a:spcPts val="1000"/>
              </a:spcBef>
              <a:spcAft>
                <a:spcPts val="0"/>
              </a:spcAft>
              <a:buClr>
                <a:srgbClr val="002060"/>
              </a:buClr>
              <a:buSzPts val="2800"/>
              <a:buChar char="•"/>
            </a:pPr>
            <a:endParaRPr lang="en-US" sz="1800" dirty="0">
              <a:solidFill>
                <a:srgbClr val="002060"/>
              </a:solidFill>
              <a:latin typeface="Bookman Old Style" panose="02050604050505020204" pitchFamily="18" charset="0"/>
            </a:endParaRPr>
          </a:p>
        </p:txBody>
      </p:sp>
      <p:sp>
        <p:nvSpPr>
          <p:cNvPr id="2" name="TextBox 1">
            <a:extLst>
              <a:ext uri="{FF2B5EF4-FFF2-40B4-BE49-F238E27FC236}">
                <a16:creationId xmlns:a16="http://schemas.microsoft.com/office/drawing/2014/main" id="{D9E2C994-9D4F-8ACB-FDF3-96B9F06FA8D4}"/>
              </a:ext>
            </a:extLst>
          </p:cNvPr>
          <p:cNvSpPr txBox="1"/>
          <p:nvPr/>
        </p:nvSpPr>
        <p:spPr>
          <a:xfrm>
            <a:off x="88490" y="6302291"/>
            <a:ext cx="2458065" cy="338554"/>
          </a:xfrm>
          <a:prstGeom prst="rect">
            <a:avLst/>
          </a:prstGeom>
          <a:noFill/>
        </p:spPr>
        <p:txBody>
          <a:bodyPr wrap="square" rtlCol="0">
            <a:spAutoFit/>
          </a:bodyPr>
          <a:lstStyle/>
          <a:p>
            <a:r>
              <a:rPr lang="en-US" sz="1600" b="1" dirty="0">
                <a:solidFill>
                  <a:srgbClr val="FF0000"/>
                </a:solidFill>
                <a:latin typeface="Bookman Old Style" panose="02050604050505020204" pitchFamily="18" charset="0"/>
              </a:rPr>
              <a:t>1</a:t>
            </a:r>
            <a:r>
              <a:rPr lang="en-US" sz="1600" b="1" baseline="30000" dirty="0">
                <a:solidFill>
                  <a:srgbClr val="FF0000"/>
                </a:solidFill>
                <a:latin typeface="Bookman Old Style" panose="02050604050505020204" pitchFamily="18" charset="0"/>
              </a:rPr>
              <a:t>st</a:t>
            </a:r>
            <a:r>
              <a:rPr lang="en-US" sz="1600" b="1" dirty="0">
                <a:solidFill>
                  <a:srgbClr val="FF0000"/>
                </a:solidFill>
                <a:latin typeface="Bookman Old Style" panose="02050604050505020204" pitchFamily="18" charset="0"/>
              </a:rPr>
              <a:t> April, 2026</a:t>
            </a:r>
            <a:endParaRPr lang="en-IN" sz="1600" b="1" dirty="0">
              <a:solidFill>
                <a:srgbClr val="FF0000"/>
              </a:solidFill>
              <a:latin typeface="Bookman Old Style" panose="02050604050505020204" pitchFamily="18" charset="0"/>
            </a:endParaRPr>
          </a:p>
        </p:txBody>
      </p:sp>
    </p:spTree>
    <p:extLst>
      <p:ext uri="{BB962C8B-B14F-4D97-AF65-F5344CB8AC3E}">
        <p14:creationId xmlns:p14="http://schemas.microsoft.com/office/powerpoint/2010/main" val="40359017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23CB69-20E5-DE96-72E9-F33B7441AEBB}"/>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CD232D5-5374-26A7-89B5-815CCFC7988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9</a:t>
            </a:fld>
            <a:endParaRPr lang="en-IN"/>
          </a:p>
        </p:txBody>
      </p:sp>
      <p:sp>
        <p:nvSpPr>
          <p:cNvPr id="5" name="Google Shape;169;p7">
            <a:extLst>
              <a:ext uri="{FF2B5EF4-FFF2-40B4-BE49-F238E27FC236}">
                <a16:creationId xmlns:a16="http://schemas.microsoft.com/office/drawing/2014/main" id="{27E048A1-717E-1AEA-1C99-1746B9ECAB3A}"/>
              </a:ext>
            </a:extLst>
          </p:cNvPr>
          <p:cNvSpPr txBox="1"/>
          <p:nvPr/>
        </p:nvSpPr>
        <p:spPr>
          <a:xfrm>
            <a:off x="1503705" y="0"/>
            <a:ext cx="10227733" cy="1076325"/>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3600" b="1" dirty="0">
                <a:solidFill>
                  <a:srgbClr val="C00000"/>
                </a:solidFill>
                <a:latin typeface="Bookman Old Style"/>
                <a:ea typeface="Bookman Old Style"/>
                <a:cs typeface="Bookman Old Style"/>
                <a:sym typeface="Bookman Old Style"/>
              </a:rPr>
              <a:t>Problem Definition</a:t>
            </a:r>
            <a:endParaRPr sz="3600" b="1" dirty="0">
              <a:solidFill>
                <a:srgbClr val="C00000"/>
              </a:solidFill>
              <a:latin typeface="Bookman Old Style"/>
              <a:ea typeface="Bookman Old Style"/>
              <a:cs typeface="Bookman Old Style"/>
              <a:sym typeface="Bookman Old Style"/>
            </a:endParaRPr>
          </a:p>
        </p:txBody>
      </p:sp>
      <p:sp>
        <p:nvSpPr>
          <p:cNvPr id="7" name="TextBox 6">
            <a:extLst>
              <a:ext uri="{FF2B5EF4-FFF2-40B4-BE49-F238E27FC236}">
                <a16:creationId xmlns:a16="http://schemas.microsoft.com/office/drawing/2014/main" id="{0290F225-A082-38BB-8EEC-5277BBC38D2E}"/>
              </a:ext>
            </a:extLst>
          </p:cNvPr>
          <p:cNvSpPr txBox="1"/>
          <p:nvPr/>
        </p:nvSpPr>
        <p:spPr>
          <a:xfrm>
            <a:off x="358876" y="1076325"/>
            <a:ext cx="11474247" cy="5349413"/>
          </a:xfrm>
          <a:prstGeom prst="rect">
            <a:avLst/>
          </a:prstGeom>
          <a:noFill/>
        </p:spPr>
        <p:txBody>
          <a:bodyPr wrap="square">
            <a:spAutoFit/>
          </a:bodyPr>
          <a:lstStyle/>
          <a:p>
            <a:pPr algn="just">
              <a:lnSpc>
                <a:spcPct val="150000"/>
              </a:lnSpc>
            </a:pPr>
            <a:r>
              <a:rPr lang="en-US" sz="1600" b="1" dirty="0">
                <a:solidFill>
                  <a:srgbClr val="002060"/>
                </a:solidFill>
                <a:latin typeface="Bookman Old Style" panose="02050604050505020204" pitchFamily="18" charset="0"/>
              </a:rPr>
              <a:t>Significance of Addressing the Problem: </a:t>
            </a:r>
            <a:r>
              <a:rPr lang="en-US" sz="1600" dirty="0">
                <a:solidFill>
                  <a:srgbClr val="002060"/>
                </a:solidFill>
                <a:latin typeface="Bookman Old Style" panose="02050604050505020204" pitchFamily="18" charset="0"/>
              </a:rPr>
              <a:t>Explain Failure to address this problem can lead to delayed outbreak warnings, increased infection rates, higher mortality, and severe strain on healthcare infrastructure. Without an effective predictive surveillance framework, health authorities may be forced to act only after outbreaks have escalated, reducing the effectiveness of containment measures such as vector control, resource allocation, and public advisories.</a:t>
            </a:r>
          </a:p>
          <a:p>
            <a:pPr algn="just">
              <a:lnSpc>
                <a:spcPct val="150000"/>
              </a:lnSpc>
            </a:pPr>
            <a:r>
              <a:rPr lang="en-US" sz="1600" dirty="0">
                <a:solidFill>
                  <a:srgbClr val="002060"/>
                </a:solidFill>
                <a:latin typeface="Bookman Old Style" panose="02050604050505020204" pitchFamily="18" charset="0"/>
              </a:rPr>
              <a:t>The major gaps that arise if this issue is not addressed include:</a:t>
            </a:r>
          </a:p>
          <a:p>
            <a:pPr marL="285750" indent="-285750" algn="just">
              <a:lnSpc>
                <a:spcPct val="150000"/>
              </a:lnSpc>
              <a:buFont typeface="Arial" panose="020B0604020202020204" pitchFamily="34" charset="0"/>
              <a:buChar char="•"/>
            </a:pPr>
            <a:r>
              <a:rPr lang="en-US" sz="1600" dirty="0">
                <a:solidFill>
                  <a:srgbClr val="002060"/>
                </a:solidFill>
                <a:latin typeface="Bookman Old Style" panose="02050604050505020204" pitchFamily="18" charset="0"/>
              </a:rPr>
              <a:t>Delayed outbreak response, leading to preventable spread of disease </a:t>
            </a:r>
          </a:p>
          <a:p>
            <a:pPr marL="285750" indent="-285750" algn="just">
              <a:lnSpc>
                <a:spcPct val="150000"/>
              </a:lnSpc>
              <a:buFont typeface="Arial" panose="020B0604020202020204" pitchFamily="34" charset="0"/>
              <a:buChar char="•"/>
            </a:pPr>
            <a:r>
              <a:rPr lang="en-US" sz="1600" dirty="0">
                <a:solidFill>
                  <a:srgbClr val="002060"/>
                </a:solidFill>
                <a:latin typeface="Bookman Old Style" panose="02050604050505020204" pitchFamily="18" charset="0"/>
              </a:rPr>
              <a:t>Lack of collaboration across healthcare institutions due to privacy constraints </a:t>
            </a:r>
          </a:p>
          <a:p>
            <a:pPr marL="285750" indent="-285750" algn="just">
              <a:lnSpc>
                <a:spcPct val="150000"/>
              </a:lnSpc>
              <a:buFont typeface="Arial" panose="020B0604020202020204" pitchFamily="34" charset="0"/>
              <a:buChar char="•"/>
            </a:pPr>
            <a:r>
              <a:rPr lang="en-US" sz="1600" dirty="0">
                <a:solidFill>
                  <a:srgbClr val="002060"/>
                </a:solidFill>
                <a:latin typeface="Bookman Old Style" panose="02050604050505020204" pitchFamily="18" charset="0"/>
              </a:rPr>
              <a:t>Underutilization of critical clinical data, especially unstructured notes </a:t>
            </a:r>
          </a:p>
          <a:p>
            <a:pPr marL="285750" indent="-285750" algn="just">
              <a:lnSpc>
                <a:spcPct val="150000"/>
              </a:lnSpc>
              <a:buFont typeface="Arial" panose="020B0604020202020204" pitchFamily="34" charset="0"/>
              <a:buChar char="•"/>
            </a:pPr>
            <a:r>
              <a:rPr lang="en-US" sz="1600" dirty="0">
                <a:solidFill>
                  <a:srgbClr val="002060"/>
                </a:solidFill>
                <a:latin typeface="Bookman Old Style" panose="02050604050505020204" pitchFamily="18" charset="0"/>
              </a:rPr>
              <a:t>Limited trust in AI predictions because of poor explainability </a:t>
            </a:r>
          </a:p>
          <a:p>
            <a:pPr marL="285750" indent="-285750" algn="just">
              <a:lnSpc>
                <a:spcPct val="150000"/>
              </a:lnSpc>
              <a:buFont typeface="Arial" panose="020B0604020202020204" pitchFamily="34" charset="0"/>
              <a:buChar char="•"/>
            </a:pPr>
            <a:r>
              <a:rPr lang="en-US" sz="1600" dirty="0">
                <a:solidFill>
                  <a:srgbClr val="002060"/>
                </a:solidFill>
                <a:latin typeface="Bookman Old Style" panose="02050604050505020204" pitchFamily="18" charset="0"/>
              </a:rPr>
              <a:t>Potential healthcare disparities, as underserved regions may receive less accurate predictions </a:t>
            </a:r>
          </a:p>
          <a:p>
            <a:pPr algn="just">
              <a:lnSpc>
                <a:spcPct val="150000"/>
              </a:lnSpc>
            </a:pPr>
            <a:r>
              <a:rPr lang="en-US" sz="1600" dirty="0">
                <a:solidFill>
                  <a:srgbClr val="002060"/>
                </a:solidFill>
                <a:latin typeface="Bookman Old Style" panose="02050604050505020204" pitchFamily="18" charset="0"/>
              </a:rPr>
              <a:t>Addressing this problem is therefore essential for enabling proactive, privacy-preserving, and explainable epidemic forecasting, which can support timely decision-making and improve public health outcomes.</a:t>
            </a:r>
          </a:p>
          <a:p>
            <a:pPr marL="228600" lvl="0" indent="-228600" algn="just">
              <a:lnSpc>
                <a:spcPct val="150000"/>
              </a:lnSpc>
              <a:spcBef>
                <a:spcPts val="1000"/>
              </a:spcBef>
              <a:buClr>
                <a:srgbClr val="002060"/>
              </a:buClr>
              <a:buSzPts val="2800"/>
              <a:buChar char="•"/>
            </a:pPr>
            <a:endParaRPr lang="en-US" sz="1600" dirty="0">
              <a:solidFill>
                <a:srgbClr val="002060"/>
              </a:solidFill>
              <a:latin typeface="Bookman Old Style" panose="02050604050505020204" pitchFamily="18" charset="0"/>
            </a:endParaRPr>
          </a:p>
        </p:txBody>
      </p:sp>
      <p:sp>
        <p:nvSpPr>
          <p:cNvPr id="2" name="TextBox 1">
            <a:extLst>
              <a:ext uri="{FF2B5EF4-FFF2-40B4-BE49-F238E27FC236}">
                <a16:creationId xmlns:a16="http://schemas.microsoft.com/office/drawing/2014/main" id="{490A2987-5B9A-2C95-DDD4-A0AB7F017D0F}"/>
              </a:ext>
            </a:extLst>
          </p:cNvPr>
          <p:cNvSpPr txBox="1"/>
          <p:nvPr/>
        </p:nvSpPr>
        <p:spPr>
          <a:xfrm>
            <a:off x="88490" y="6302291"/>
            <a:ext cx="2458065" cy="338554"/>
          </a:xfrm>
          <a:prstGeom prst="rect">
            <a:avLst/>
          </a:prstGeom>
          <a:noFill/>
        </p:spPr>
        <p:txBody>
          <a:bodyPr wrap="square" rtlCol="0">
            <a:spAutoFit/>
          </a:bodyPr>
          <a:lstStyle/>
          <a:p>
            <a:r>
              <a:rPr lang="en-US" sz="1600" b="1" dirty="0">
                <a:solidFill>
                  <a:srgbClr val="FF0000"/>
                </a:solidFill>
                <a:latin typeface="Bookman Old Style" panose="02050604050505020204" pitchFamily="18" charset="0"/>
              </a:rPr>
              <a:t>1</a:t>
            </a:r>
            <a:r>
              <a:rPr lang="en-US" sz="1600" b="1" baseline="30000" dirty="0">
                <a:solidFill>
                  <a:srgbClr val="FF0000"/>
                </a:solidFill>
                <a:latin typeface="Bookman Old Style" panose="02050604050505020204" pitchFamily="18" charset="0"/>
              </a:rPr>
              <a:t>st</a:t>
            </a:r>
            <a:r>
              <a:rPr lang="en-US" sz="1600" b="1" dirty="0">
                <a:solidFill>
                  <a:srgbClr val="FF0000"/>
                </a:solidFill>
                <a:latin typeface="Bookman Old Style" panose="02050604050505020204" pitchFamily="18" charset="0"/>
              </a:rPr>
              <a:t> April, 2026</a:t>
            </a:r>
            <a:endParaRPr lang="en-IN" sz="1600" b="1" dirty="0">
              <a:solidFill>
                <a:srgbClr val="FF0000"/>
              </a:solidFill>
              <a:latin typeface="Bookman Old Style" panose="02050604050505020204" pitchFamily="18" charset="0"/>
            </a:endParaRPr>
          </a:p>
        </p:txBody>
      </p:sp>
    </p:spTree>
    <p:extLst>
      <p:ext uri="{BB962C8B-B14F-4D97-AF65-F5344CB8AC3E}">
        <p14:creationId xmlns:p14="http://schemas.microsoft.com/office/powerpoint/2010/main" val="18784834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8"/>
          <p:cNvSpPr txBox="1">
            <a:spLocks noGrp="1"/>
          </p:cNvSpPr>
          <p:nvPr>
            <p:ph type="body" idx="1"/>
          </p:nvPr>
        </p:nvSpPr>
        <p:spPr>
          <a:xfrm>
            <a:off x="342900" y="1258282"/>
            <a:ext cx="11496675" cy="5454048"/>
          </a:xfrm>
          <a:prstGeom prst="rect">
            <a:avLst/>
          </a:prstGeom>
          <a:noFill/>
          <a:ln>
            <a:noFill/>
          </a:ln>
        </p:spPr>
        <p:txBody>
          <a:bodyPr spcFirstLastPara="1" wrap="square" lIns="91425" tIns="45700" rIns="91425" bIns="45700" anchor="t" anchorCtr="0">
            <a:normAutofit/>
          </a:bodyPr>
          <a:lstStyle/>
          <a:p>
            <a:pPr marL="228600" lvl="0" indent="-228600" algn="just">
              <a:lnSpc>
                <a:spcPct val="150000"/>
              </a:lnSpc>
              <a:spcBef>
                <a:spcPts val="0"/>
              </a:spcBef>
            </a:pPr>
            <a:r>
              <a:rPr lang="en-IN" sz="2000" b="1" dirty="0"/>
              <a:t>Main Objective: </a:t>
            </a:r>
            <a:r>
              <a:rPr lang="en-US" sz="2000" dirty="0"/>
              <a:t>To develop a privacy-preserving and explainable AI framework for early forecasting of dengue and malaria outbreaks using spatio-temporal healthcare data.</a:t>
            </a:r>
          </a:p>
          <a:p>
            <a:pPr marL="228600" lvl="0" indent="-228600" algn="just">
              <a:lnSpc>
                <a:spcPct val="150000"/>
              </a:lnSpc>
              <a:spcBef>
                <a:spcPts val="0"/>
              </a:spcBef>
            </a:pPr>
            <a:r>
              <a:rPr lang="en-IN" sz="2000" b="1" dirty="0"/>
              <a:t>Specific Objectives:</a:t>
            </a:r>
          </a:p>
          <a:p>
            <a:pPr marL="685800" lvl="1" indent="-228600" algn="just">
              <a:lnSpc>
                <a:spcPct val="150000"/>
              </a:lnSpc>
              <a:spcBef>
                <a:spcPts val="0"/>
              </a:spcBef>
            </a:pPr>
            <a:r>
              <a:rPr lang="en-US" sz="2000" dirty="0">
                <a:solidFill>
                  <a:srgbClr val="002060"/>
                </a:solidFill>
              </a:rPr>
              <a:t>To design a spatio-temporal graph-based model for predicting outbreak risk across regions and time periods.</a:t>
            </a:r>
          </a:p>
          <a:p>
            <a:pPr marL="685800" lvl="1" indent="-228600" algn="just">
              <a:lnSpc>
                <a:spcPct val="150000"/>
              </a:lnSpc>
              <a:spcBef>
                <a:spcPts val="0"/>
              </a:spcBef>
            </a:pPr>
            <a:r>
              <a:rPr lang="en-US" sz="2000" dirty="0">
                <a:solidFill>
                  <a:srgbClr val="002060"/>
                </a:solidFill>
              </a:rPr>
              <a:t>To enable privacy-preserving collaborative learning across multiple healthcare institutions using federated learning.</a:t>
            </a:r>
          </a:p>
          <a:p>
            <a:pPr marL="685800" lvl="1" indent="-228600" algn="just">
              <a:lnSpc>
                <a:spcPct val="150000"/>
              </a:lnSpc>
              <a:spcBef>
                <a:spcPts val="0"/>
              </a:spcBef>
            </a:pPr>
            <a:r>
              <a:rPr lang="en-US" sz="2000" dirty="0">
                <a:solidFill>
                  <a:srgbClr val="002060"/>
                </a:solidFill>
              </a:rPr>
              <a:t>To incorporate explainability mechanisms that provide interpretable outbreak predictions for public health officials.</a:t>
            </a:r>
          </a:p>
          <a:p>
            <a:pPr marL="685800" lvl="1" indent="-228600" algn="just">
              <a:lnSpc>
                <a:spcPct val="150000"/>
              </a:lnSpc>
              <a:spcBef>
                <a:spcPts val="0"/>
              </a:spcBef>
            </a:pPr>
            <a:r>
              <a:rPr lang="en-US" sz="2000" dirty="0">
                <a:solidFill>
                  <a:srgbClr val="002060"/>
                </a:solidFill>
              </a:rPr>
              <a:t>To integrate multi-source data such as case records, environmental factors, and hospital trends for improved forecasting accuracy.</a:t>
            </a:r>
            <a:endParaRPr sz="2000" dirty="0">
              <a:solidFill>
                <a:srgbClr val="002060"/>
              </a:solidFill>
            </a:endParaRPr>
          </a:p>
        </p:txBody>
      </p:sp>
      <p:sp>
        <p:nvSpPr>
          <p:cNvPr id="176" name="Google Shape;176;p8"/>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10</a:t>
            </a:fld>
            <a:endParaRPr/>
          </a:p>
        </p:txBody>
      </p:sp>
      <p:sp>
        <p:nvSpPr>
          <p:cNvPr id="177" name="Google Shape;177;p8"/>
          <p:cNvSpPr txBox="1"/>
          <p:nvPr/>
        </p:nvSpPr>
        <p:spPr>
          <a:xfrm>
            <a:off x="2191229" y="0"/>
            <a:ext cx="8146571" cy="1032933"/>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dirty="0">
                <a:solidFill>
                  <a:srgbClr val="C00000"/>
                </a:solidFill>
                <a:latin typeface="Bookman Old Style"/>
                <a:ea typeface="Bookman Old Style"/>
                <a:cs typeface="Bookman Old Style"/>
                <a:sym typeface="Bookman Old Style"/>
              </a:rPr>
              <a:t>Objectives</a:t>
            </a:r>
            <a:endParaRPr dirty="0"/>
          </a:p>
        </p:txBody>
      </p:sp>
      <p:sp>
        <p:nvSpPr>
          <p:cNvPr id="2" name="TextBox 1">
            <a:extLst>
              <a:ext uri="{FF2B5EF4-FFF2-40B4-BE49-F238E27FC236}">
                <a16:creationId xmlns:a16="http://schemas.microsoft.com/office/drawing/2014/main" id="{811F9530-D116-69BE-A569-8A70F3466EAB}"/>
              </a:ext>
            </a:extLst>
          </p:cNvPr>
          <p:cNvSpPr txBox="1"/>
          <p:nvPr/>
        </p:nvSpPr>
        <p:spPr>
          <a:xfrm>
            <a:off x="88490" y="6302291"/>
            <a:ext cx="2458065" cy="338554"/>
          </a:xfrm>
          <a:prstGeom prst="rect">
            <a:avLst/>
          </a:prstGeom>
          <a:noFill/>
        </p:spPr>
        <p:txBody>
          <a:bodyPr wrap="square" rtlCol="0">
            <a:spAutoFit/>
          </a:bodyPr>
          <a:lstStyle/>
          <a:p>
            <a:r>
              <a:rPr lang="en-US" sz="1600" b="1" dirty="0">
                <a:solidFill>
                  <a:srgbClr val="FF0000"/>
                </a:solidFill>
                <a:latin typeface="Bookman Old Style" panose="02050604050505020204" pitchFamily="18" charset="0"/>
              </a:rPr>
              <a:t>1</a:t>
            </a:r>
            <a:r>
              <a:rPr lang="en-US" sz="1600" b="1" baseline="30000" dirty="0">
                <a:solidFill>
                  <a:srgbClr val="FF0000"/>
                </a:solidFill>
                <a:latin typeface="Bookman Old Style" panose="02050604050505020204" pitchFamily="18" charset="0"/>
              </a:rPr>
              <a:t>st</a:t>
            </a:r>
            <a:r>
              <a:rPr lang="en-US" sz="1600" b="1" dirty="0">
                <a:solidFill>
                  <a:srgbClr val="FF0000"/>
                </a:solidFill>
                <a:latin typeface="Bookman Old Style" panose="02050604050505020204" pitchFamily="18" charset="0"/>
              </a:rPr>
              <a:t> April, 2026</a:t>
            </a:r>
            <a:endParaRPr lang="en-IN" sz="1600" b="1" dirty="0">
              <a:solidFill>
                <a:srgbClr val="FF0000"/>
              </a:solidFill>
              <a:latin typeface="Bookman Old Style" panose="020506040505050202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C0B0E4F-256B-0146-9A8D-197450C27D6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11</a:t>
            </a:fld>
            <a:endParaRPr lang="en-IN"/>
          </a:p>
        </p:txBody>
      </p:sp>
      <p:sp>
        <p:nvSpPr>
          <p:cNvPr id="6" name="TextBox 5">
            <a:extLst>
              <a:ext uri="{FF2B5EF4-FFF2-40B4-BE49-F238E27FC236}">
                <a16:creationId xmlns:a16="http://schemas.microsoft.com/office/drawing/2014/main" id="{D27D9D03-EF88-764C-2787-7980494D8647}"/>
              </a:ext>
            </a:extLst>
          </p:cNvPr>
          <p:cNvSpPr txBox="1"/>
          <p:nvPr/>
        </p:nvSpPr>
        <p:spPr>
          <a:xfrm>
            <a:off x="238434" y="1254438"/>
            <a:ext cx="9743767" cy="3656514"/>
          </a:xfrm>
          <a:prstGeom prst="rect">
            <a:avLst/>
          </a:prstGeom>
          <a:noFill/>
        </p:spPr>
        <p:txBody>
          <a:bodyPr wrap="square">
            <a:spAutoFit/>
          </a:bodyPr>
          <a:lstStyle/>
          <a:p>
            <a:pPr lvl="0" algn="just" rtl="0">
              <a:lnSpc>
                <a:spcPct val="150000"/>
              </a:lnSpc>
              <a:spcBef>
                <a:spcPts val="1000"/>
              </a:spcBef>
              <a:spcAft>
                <a:spcPts val="0"/>
              </a:spcAft>
              <a:buClr>
                <a:srgbClr val="002060"/>
              </a:buClr>
              <a:buSzPts val="2800"/>
            </a:pPr>
            <a:r>
              <a:rPr lang="en-US" sz="2000" b="1" dirty="0">
                <a:solidFill>
                  <a:srgbClr val="002060"/>
                </a:solidFill>
                <a:latin typeface="Bookman Old Style" panose="02050604050505020204" pitchFamily="18" charset="0"/>
              </a:rPr>
              <a:t>Expected Contributions to the Field:</a:t>
            </a:r>
          </a:p>
          <a:p>
            <a:pPr marL="342900" lvl="0" indent="-342900" algn="just">
              <a:lnSpc>
                <a:spcPct val="150000"/>
              </a:lnSpc>
              <a:spcBef>
                <a:spcPts val="1000"/>
              </a:spcBef>
              <a:buClr>
                <a:srgbClr val="002060"/>
              </a:buClr>
              <a:buSzPts val="2800"/>
              <a:buFont typeface="Arial" panose="020B0604020202020204" pitchFamily="34" charset="0"/>
              <a:buChar char="•"/>
            </a:pPr>
            <a:r>
              <a:rPr lang="en-US" sz="2000" dirty="0">
                <a:solidFill>
                  <a:srgbClr val="002060"/>
                </a:solidFill>
                <a:latin typeface="Bookman Old Style" panose="02050604050505020204" pitchFamily="18" charset="0"/>
              </a:rPr>
              <a:t>Addresses the gap of privacy-preserving collaborative learning across multiple healthcare institutions using federated learning.</a:t>
            </a:r>
          </a:p>
          <a:p>
            <a:pPr marL="342900" lvl="0" indent="-342900" algn="just">
              <a:lnSpc>
                <a:spcPct val="150000"/>
              </a:lnSpc>
              <a:spcBef>
                <a:spcPts val="1000"/>
              </a:spcBef>
              <a:buClr>
                <a:srgbClr val="002060"/>
              </a:buClr>
              <a:buSzPts val="2800"/>
              <a:buFont typeface="Arial" panose="020B0604020202020204" pitchFamily="34" charset="0"/>
              <a:buChar char="•"/>
            </a:pPr>
            <a:r>
              <a:rPr lang="en-US" sz="2000" dirty="0">
                <a:solidFill>
                  <a:srgbClr val="002060"/>
                </a:solidFill>
                <a:latin typeface="Bookman Old Style" panose="02050604050505020204" pitchFamily="18" charset="0"/>
              </a:rPr>
              <a:t>Solves the lack of early, explainable outbreak prediction through </a:t>
            </a:r>
            <a:r>
              <a:rPr lang="en-US" sz="2000" dirty="0" err="1">
                <a:solidFill>
                  <a:srgbClr val="002060"/>
                </a:solidFill>
                <a:latin typeface="Bookman Old Style" panose="02050604050505020204" pitchFamily="18" charset="0"/>
              </a:rPr>
              <a:t>spatio</a:t>
            </a:r>
            <a:r>
              <a:rPr lang="en-US" sz="2000" dirty="0">
                <a:solidFill>
                  <a:srgbClr val="002060"/>
                </a:solidFill>
                <a:latin typeface="Bookman Old Style" panose="02050604050505020204" pitchFamily="18" charset="0"/>
              </a:rPr>
              <a:t>-temporal GNN-based forecasting.</a:t>
            </a:r>
          </a:p>
          <a:p>
            <a:pPr marL="342900" lvl="0" indent="-342900" algn="just">
              <a:lnSpc>
                <a:spcPct val="150000"/>
              </a:lnSpc>
              <a:spcBef>
                <a:spcPts val="1000"/>
              </a:spcBef>
              <a:buClr>
                <a:srgbClr val="002060"/>
              </a:buClr>
              <a:buSzPts val="2800"/>
              <a:buFont typeface="Arial" panose="020B0604020202020204" pitchFamily="34" charset="0"/>
              <a:buChar char="•"/>
            </a:pPr>
            <a:r>
              <a:rPr lang="en-US" sz="2000" dirty="0">
                <a:solidFill>
                  <a:srgbClr val="002060"/>
                </a:solidFill>
                <a:latin typeface="Bookman Old Style" panose="02050604050505020204" pitchFamily="18" charset="0"/>
              </a:rPr>
              <a:t>Bridges the missing integration of multi-source data, including case records, environmental factors, and hospital networks..</a:t>
            </a:r>
          </a:p>
        </p:txBody>
      </p:sp>
      <p:sp>
        <p:nvSpPr>
          <p:cNvPr id="7" name="Google Shape;177;p8">
            <a:extLst>
              <a:ext uri="{FF2B5EF4-FFF2-40B4-BE49-F238E27FC236}">
                <a16:creationId xmlns:a16="http://schemas.microsoft.com/office/drawing/2014/main" id="{C1E8824A-5835-CB24-AD2C-ECDE8BC8BDC3}"/>
              </a:ext>
            </a:extLst>
          </p:cNvPr>
          <p:cNvSpPr txBox="1"/>
          <p:nvPr/>
        </p:nvSpPr>
        <p:spPr>
          <a:xfrm>
            <a:off x="2220726" y="29427"/>
            <a:ext cx="8146571" cy="1032933"/>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dirty="0">
                <a:solidFill>
                  <a:srgbClr val="C00000"/>
                </a:solidFill>
                <a:latin typeface="Bookman Old Style"/>
                <a:ea typeface="Bookman Old Style"/>
                <a:cs typeface="Bookman Old Style"/>
                <a:sym typeface="Bookman Old Style"/>
              </a:rPr>
              <a:t>Objectives</a:t>
            </a:r>
            <a:endParaRPr dirty="0"/>
          </a:p>
        </p:txBody>
      </p:sp>
      <p:sp>
        <p:nvSpPr>
          <p:cNvPr id="2" name="TextBox 1">
            <a:extLst>
              <a:ext uri="{FF2B5EF4-FFF2-40B4-BE49-F238E27FC236}">
                <a16:creationId xmlns:a16="http://schemas.microsoft.com/office/drawing/2014/main" id="{28FFA3E3-0802-5971-2E22-8388B709EA38}"/>
              </a:ext>
            </a:extLst>
          </p:cNvPr>
          <p:cNvSpPr txBox="1"/>
          <p:nvPr/>
        </p:nvSpPr>
        <p:spPr>
          <a:xfrm>
            <a:off x="88490" y="6302291"/>
            <a:ext cx="2458065" cy="338554"/>
          </a:xfrm>
          <a:prstGeom prst="rect">
            <a:avLst/>
          </a:prstGeom>
          <a:noFill/>
        </p:spPr>
        <p:txBody>
          <a:bodyPr wrap="square" rtlCol="0">
            <a:spAutoFit/>
          </a:bodyPr>
          <a:lstStyle/>
          <a:p>
            <a:r>
              <a:rPr lang="en-US" sz="1600" b="1" dirty="0">
                <a:solidFill>
                  <a:srgbClr val="FF0000"/>
                </a:solidFill>
                <a:latin typeface="Bookman Old Style" panose="02050604050505020204" pitchFamily="18" charset="0"/>
              </a:rPr>
              <a:t>1</a:t>
            </a:r>
            <a:r>
              <a:rPr lang="en-US" sz="1600" b="1" baseline="30000" dirty="0">
                <a:solidFill>
                  <a:srgbClr val="FF0000"/>
                </a:solidFill>
                <a:latin typeface="Bookman Old Style" panose="02050604050505020204" pitchFamily="18" charset="0"/>
              </a:rPr>
              <a:t>st</a:t>
            </a:r>
            <a:r>
              <a:rPr lang="en-US" sz="1600" b="1" dirty="0">
                <a:solidFill>
                  <a:srgbClr val="FF0000"/>
                </a:solidFill>
                <a:latin typeface="Bookman Old Style" panose="02050604050505020204" pitchFamily="18" charset="0"/>
              </a:rPr>
              <a:t> April, 2026</a:t>
            </a:r>
            <a:endParaRPr lang="en-IN" sz="1600" b="1" dirty="0">
              <a:solidFill>
                <a:srgbClr val="FF0000"/>
              </a:solidFill>
              <a:latin typeface="Bookman Old Style" panose="02050604050505020204" pitchFamily="18" charset="0"/>
            </a:endParaRPr>
          </a:p>
        </p:txBody>
      </p:sp>
    </p:spTree>
    <p:extLst>
      <p:ext uri="{BB962C8B-B14F-4D97-AF65-F5344CB8AC3E}">
        <p14:creationId xmlns:p14="http://schemas.microsoft.com/office/powerpoint/2010/main" val="9733662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2" name="Google Shape;192;p10"/>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12</a:t>
            </a:fld>
            <a:endParaRPr/>
          </a:p>
        </p:txBody>
      </p:sp>
      <p:sp>
        <p:nvSpPr>
          <p:cNvPr id="193" name="Google Shape;193;p10"/>
          <p:cNvSpPr txBox="1"/>
          <p:nvPr/>
        </p:nvSpPr>
        <p:spPr>
          <a:xfrm>
            <a:off x="2284362" y="0"/>
            <a:ext cx="8146571" cy="839401"/>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Methodology</a:t>
            </a:r>
            <a:endParaRPr/>
          </a:p>
        </p:txBody>
      </p:sp>
      <p:pic>
        <p:nvPicPr>
          <p:cNvPr id="5" name="Picture 4">
            <a:extLst>
              <a:ext uri="{FF2B5EF4-FFF2-40B4-BE49-F238E27FC236}">
                <a16:creationId xmlns:a16="http://schemas.microsoft.com/office/drawing/2014/main" id="{B7A818CB-2290-D92D-DE5B-A8F6BAEB95C4}"/>
              </a:ext>
            </a:extLst>
          </p:cNvPr>
          <p:cNvPicPr>
            <a:picLocks noChangeAspect="1"/>
          </p:cNvPicPr>
          <p:nvPr/>
        </p:nvPicPr>
        <p:blipFill>
          <a:blip r:embed="rId3"/>
          <a:stretch>
            <a:fillRect/>
          </a:stretch>
        </p:blipFill>
        <p:spPr>
          <a:xfrm>
            <a:off x="104835" y="1493599"/>
            <a:ext cx="6207476" cy="4770537"/>
          </a:xfrm>
          <a:prstGeom prst="rect">
            <a:avLst/>
          </a:prstGeom>
        </p:spPr>
      </p:pic>
      <p:sp>
        <p:nvSpPr>
          <p:cNvPr id="2" name="TextBox 1">
            <a:extLst>
              <a:ext uri="{FF2B5EF4-FFF2-40B4-BE49-F238E27FC236}">
                <a16:creationId xmlns:a16="http://schemas.microsoft.com/office/drawing/2014/main" id="{9EC5038E-44FA-7921-5D03-ABAD72B86600}"/>
              </a:ext>
            </a:extLst>
          </p:cNvPr>
          <p:cNvSpPr txBox="1"/>
          <p:nvPr/>
        </p:nvSpPr>
        <p:spPr>
          <a:xfrm>
            <a:off x="6312311" y="1533832"/>
            <a:ext cx="5704877" cy="4770537"/>
          </a:xfrm>
          <a:prstGeom prst="rect">
            <a:avLst/>
          </a:prstGeom>
          <a:noFill/>
        </p:spPr>
        <p:txBody>
          <a:bodyPr wrap="square" rtlCol="0">
            <a:spAutoFit/>
          </a:bodyPr>
          <a:lstStyle/>
          <a:p>
            <a:pPr algn="just"/>
            <a:r>
              <a:rPr lang="en-US" sz="1600" b="1" dirty="0">
                <a:solidFill>
                  <a:srgbClr val="002060"/>
                </a:solidFill>
                <a:latin typeface="Bookman Old Style" panose="02050604050505020204" pitchFamily="18" charset="0"/>
              </a:rPr>
              <a:t>Data Ingestion:</a:t>
            </a:r>
            <a:r>
              <a:rPr lang="en-US" sz="1600" dirty="0">
                <a:solidFill>
                  <a:srgbClr val="002060"/>
                </a:solidFill>
                <a:latin typeface="Bookman Old Style" panose="02050604050505020204" pitchFamily="18" charset="0"/>
              </a:rPr>
              <a:t> Collects, cleans, and aligns multi-source outbreak, weather, and hospital datasets. </a:t>
            </a:r>
          </a:p>
          <a:p>
            <a:pPr algn="just"/>
            <a:r>
              <a:rPr lang="en-US" sz="1600" b="1" dirty="0">
                <a:solidFill>
                  <a:srgbClr val="002060"/>
                </a:solidFill>
                <a:latin typeface="Bookman Old Style" panose="02050604050505020204" pitchFamily="18" charset="0"/>
              </a:rPr>
              <a:t>Privacy NER Module:</a:t>
            </a:r>
            <a:r>
              <a:rPr lang="en-US" sz="1600" dirty="0">
                <a:solidFill>
                  <a:srgbClr val="002060"/>
                </a:solidFill>
                <a:latin typeface="Bookman Old Style" panose="02050604050505020204" pitchFamily="18" charset="0"/>
              </a:rPr>
              <a:t> Removes sensitive patient information and extracts relevant clinical entities from text data. </a:t>
            </a:r>
          </a:p>
          <a:p>
            <a:pPr algn="just"/>
            <a:r>
              <a:rPr lang="en-US" sz="1600" b="1" dirty="0">
                <a:solidFill>
                  <a:srgbClr val="002060"/>
                </a:solidFill>
                <a:latin typeface="Bookman Old Style" panose="02050604050505020204" pitchFamily="18" charset="0"/>
              </a:rPr>
              <a:t>Temporal Graph Builder:</a:t>
            </a:r>
            <a:r>
              <a:rPr lang="en-US" sz="1600" dirty="0">
                <a:solidFill>
                  <a:srgbClr val="002060"/>
                </a:solidFill>
                <a:latin typeface="Bookman Old Style" panose="02050604050505020204" pitchFamily="18" charset="0"/>
              </a:rPr>
              <a:t> Converts region and hospital data into time-based graph structures for spread modeling. </a:t>
            </a:r>
          </a:p>
          <a:p>
            <a:pPr algn="just"/>
            <a:r>
              <a:rPr lang="en-US" sz="1600" b="1" dirty="0">
                <a:solidFill>
                  <a:srgbClr val="002060"/>
                </a:solidFill>
                <a:latin typeface="Bookman Old Style" panose="02050604050505020204" pitchFamily="18" charset="0"/>
              </a:rPr>
              <a:t>Explainable GNN Model:</a:t>
            </a:r>
            <a:r>
              <a:rPr lang="en-US" sz="1600" dirty="0">
                <a:solidFill>
                  <a:srgbClr val="002060"/>
                </a:solidFill>
                <a:latin typeface="Bookman Old Style" panose="02050604050505020204" pitchFamily="18" charset="0"/>
              </a:rPr>
              <a:t> Learns spatial and temporal disease patterns to predict outbreak risk with interpretability. </a:t>
            </a:r>
          </a:p>
          <a:p>
            <a:pPr algn="just"/>
            <a:r>
              <a:rPr lang="en-US" sz="1600" b="1" dirty="0">
                <a:solidFill>
                  <a:srgbClr val="002060"/>
                </a:solidFill>
                <a:latin typeface="Bookman Old Style" panose="02050604050505020204" pitchFamily="18" charset="0"/>
              </a:rPr>
              <a:t>Federated Learning:</a:t>
            </a:r>
            <a:r>
              <a:rPr lang="en-US" sz="1600" dirty="0">
                <a:solidFill>
                  <a:srgbClr val="002060"/>
                </a:solidFill>
                <a:latin typeface="Bookman Old Style" panose="02050604050505020204" pitchFamily="18" charset="0"/>
              </a:rPr>
              <a:t> Trains local hospital models independently and securely aggregates updates into a global model. </a:t>
            </a:r>
          </a:p>
          <a:p>
            <a:pPr algn="just"/>
            <a:r>
              <a:rPr lang="en-US" sz="1600" b="1" dirty="0">
                <a:solidFill>
                  <a:srgbClr val="002060"/>
                </a:solidFill>
                <a:latin typeface="Bookman Old Style" panose="02050604050505020204" pitchFamily="18" charset="0"/>
              </a:rPr>
              <a:t>Fairness Tracker:</a:t>
            </a:r>
            <a:r>
              <a:rPr lang="en-US" sz="1600" dirty="0">
                <a:solidFill>
                  <a:srgbClr val="002060"/>
                </a:solidFill>
                <a:latin typeface="Bookman Old Style" panose="02050604050505020204" pitchFamily="18" charset="0"/>
              </a:rPr>
              <a:t> Evaluates bias and ensures consistent prediction performance across regions and populations. </a:t>
            </a:r>
          </a:p>
          <a:p>
            <a:pPr algn="just"/>
            <a:r>
              <a:rPr lang="en-US" sz="1600" b="1" dirty="0">
                <a:solidFill>
                  <a:srgbClr val="002060"/>
                </a:solidFill>
                <a:latin typeface="Bookman Old Style" panose="02050604050505020204" pitchFamily="18" charset="0"/>
              </a:rPr>
              <a:t>Dashboard &amp; Insights:</a:t>
            </a:r>
            <a:r>
              <a:rPr lang="en-US" sz="1600" dirty="0">
                <a:solidFill>
                  <a:srgbClr val="002060"/>
                </a:solidFill>
                <a:latin typeface="Bookman Old Style" panose="02050604050505020204" pitchFamily="18" charset="0"/>
              </a:rPr>
              <a:t> Displays outbreak risk scores, hotspot alerts, and explainable decision insights. </a:t>
            </a:r>
          </a:p>
        </p:txBody>
      </p:sp>
      <p:sp>
        <p:nvSpPr>
          <p:cNvPr id="3" name="TextBox 2">
            <a:extLst>
              <a:ext uri="{FF2B5EF4-FFF2-40B4-BE49-F238E27FC236}">
                <a16:creationId xmlns:a16="http://schemas.microsoft.com/office/drawing/2014/main" id="{620B6870-7C0B-7DAA-89E4-8F382BD1C828}"/>
              </a:ext>
            </a:extLst>
          </p:cNvPr>
          <p:cNvSpPr txBox="1"/>
          <p:nvPr/>
        </p:nvSpPr>
        <p:spPr>
          <a:xfrm>
            <a:off x="88490" y="6302291"/>
            <a:ext cx="2458065" cy="338554"/>
          </a:xfrm>
          <a:prstGeom prst="rect">
            <a:avLst/>
          </a:prstGeom>
          <a:noFill/>
        </p:spPr>
        <p:txBody>
          <a:bodyPr wrap="square" rtlCol="0">
            <a:spAutoFit/>
          </a:bodyPr>
          <a:lstStyle/>
          <a:p>
            <a:r>
              <a:rPr lang="en-US" sz="1600" b="1" dirty="0">
                <a:solidFill>
                  <a:srgbClr val="FF0000"/>
                </a:solidFill>
                <a:latin typeface="Bookman Old Style" panose="02050604050505020204" pitchFamily="18" charset="0"/>
              </a:rPr>
              <a:t>1</a:t>
            </a:r>
            <a:r>
              <a:rPr lang="en-US" sz="1600" b="1" baseline="30000" dirty="0">
                <a:solidFill>
                  <a:srgbClr val="FF0000"/>
                </a:solidFill>
                <a:latin typeface="Bookman Old Style" panose="02050604050505020204" pitchFamily="18" charset="0"/>
              </a:rPr>
              <a:t>st</a:t>
            </a:r>
            <a:r>
              <a:rPr lang="en-US" sz="1600" b="1" dirty="0">
                <a:solidFill>
                  <a:srgbClr val="FF0000"/>
                </a:solidFill>
                <a:latin typeface="Bookman Old Style" panose="02050604050505020204" pitchFamily="18" charset="0"/>
              </a:rPr>
              <a:t> April, 2026</a:t>
            </a:r>
            <a:endParaRPr lang="en-IN" sz="1600" b="1" dirty="0">
              <a:solidFill>
                <a:srgbClr val="FF0000"/>
              </a:solidFill>
              <a:latin typeface="Bookman Old Style" panose="020506040505050202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9">
          <a:extLst>
            <a:ext uri="{FF2B5EF4-FFF2-40B4-BE49-F238E27FC236}">
              <a16:creationId xmlns:a16="http://schemas.microsoft.com/office/drawing/2014/main" id="{AC5C7EAF-1EAE-A6CB-0DCC-3D5F202664D8}"/>
            </a:ext>
          </a:extLst>
        </p:cNvPr>
        <p:cNvGrpSpPr/>
        <p:nvPr/>
      </p:nvGrpSpPr>
      <p:grpSpPr>
        <a:xfrm>
          <a:off x="0" y="0"/>
          <a:ext cx="0" cy="0"/>
          <a:chOff x="0" y="0"/>
          <a:chExt cx="0" cy="0"/>
        </a:xfrm>
      </p:grpSpPr>
      <p:sp>
        <p:nvSpPr>
          <p:cNvPr id="192" name="Google Shape;192;p10">
            <a:extLst>
              <a:ext uri="{FF2B5EF4-FFF2-40B4-BE49-F238E27FC236}">
                <a16:creationId xmlns:a16="http://schemas.microsoft.com/office/drawing/2014/main" id="{890B28EE-CF6B-FD1B-D179-84E5F6B43376}"/>
              </a:ext>
            </a:extLst>
          </p:cNvPr>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13</a:t>
            </a:fld>
            <a:endParaRPr/>
          </a:p>
        </p:txBody>
      </p:sp>
      <p:sp>
        <p:nvSpPr>
          <p:cNvPr id="193" name="Google Shape;193;p10">
            <a:extLst>
              <a:ext uri="{FF2B5EF4-FFF2-40B4-BE49-F238E27FC236}">
                <a16:creationId xmlns:a16="http://schemas.microsoft.com/office/drawing/2014/main" id="{78405B27-4783-BC11-2FE4-27CCB3704B9C}"/>
              </a:ext>
            </a:extLst>
          </p:cNvPr>
          <p:cNvSpPr txBox="1"/>
          <p:nvPr/>
        </p:nvSpPr>
        <p:spPr>
          <a:xfrm>
            <a:off x="2284362" y="0"/>
            <a:ext cx="8146571" cy="839401"/>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Methodology</a:t>
            </a:r>
            <a:endParaRPr/>
          </a:p>
        </p:txBody>
      </p:sp>
      <p:pic>
        <p:nvPicPr>
          <p:cNvPr id="3" name="Picture 2">
            <a:extLst>
              <a:ext uri="{FF2B5EF4-FFF2-40B4-BE49-F238E27FC236}">
                <a16:creationId xmlns:a16="http://schemas.microsoft.com/office/drawing/2014/main" id="{4AAE7124-9F37-A65A-9A21-96200A88DAF8}"/>
              </a:ext>
            </a:extLst>
          </p:cNvPr>
          <p:cNvPicPr>
            <a:picLocks noChangeAspect="1"/>
          </p:cNvPicPr>
          <p:nvPr/>
        </p:nvPicPr>
        <p:blipFill>
          <a:blip r:embed="rId3"/>
          <a:stretch>
            <a:fillRect/>
          </a:stretch>
        </p:blipFill>
        <p:spPr>
          <a:xfrm>
            <a:off x="174812" y="1131267"/>
            <a:ext cx="6090890" cy="5142515"/>
          </a:xfrm>
          <a:prstGeom prst="rect">
            <a:avLst/>
          </a:prstGeom>
        </p:spPr>
      </p:pic>
      <p:sp>
        <p:nvSpPr>
          <p:cNvPr id="8" name="TextBox 7">
            <a:extLst>
              <a:ext uri="{FF2B5EF4-FFF2-40B4-BE49-F238E27FC236}">
                <a16:creationId xmlns:a16="http://schemas.microsoft.com/office/drawing/2014/main" id="{DD147D7A-98F3-1A35-25CB-445F0BC66919}"/>
              </a:ext>
            </a:extLst>
          </p:cNvPr>
          <p:cNvSpPr txBox="1"/>
          <p:nvPr/>
        </p:nvSpPr>
        <p:spPr>
          <a:xfrm>
            <a:off x="6265702" y="1052610"/>
            <a:ext cx="5659541" cy="5221173"/>
          </a:xfrm>
          <a:prstGeom prst="rect">
            <a:avLst/>
          </a:prstGeom>
          <a:noFill/>
        </p:spPr>
        <p:txBody>
          <a:bodyPr wrap="square" rtlCol="0">
            <a:spAutoFit/>
          </a:bodyPr>
          <a:lstStyle/>
          <a:p>
            <a:pPr algn="just">
              <a:lnSpc>
                <a:spcPct val="150000"/>
              </a:lnSpc>
            </a:pPr>
            <a:r>
              <a:rPr lang="en-US" sz="1600" b="1" dirty="0">
                <a:solidFill>
                  <a:srgbClr val="002060"/>
                </a:solidFill>
                <a:latin typeface="Bookman Old Style" panose="02050604050505020204" pitchFamily="18" charset="0"/>
              </a:rPr>
              <a:t>Data Sources:</a:t>
            </a:r>
            <a:r>
              <a:rPr lang="en-US" sz="1600" dirty="0">
                <a:solidFill>
                  <a:srgbClr val="002060"/>
                </a:solidFill>
                <a:latin typeface="Bookman Old Style" panose="02050604050505020204" pitchFamily="18" charset="0"/>
              </a:rPr>
              <a:t> Ingests multi-domain inputs including epidemiological, environmental, demographic, and hospital network data.</a:t>
            </a:r>
          </a:p>
          <a:p>
            <a:pPr algn="just">
              <a:lnSpc>
                <a:spcPct val="150000"/>
              </a:lnSpc>
            </a:pPr>
            <a:r>
              <a:rPr lang="en-US" sz="1600" b="1" dirty="0">
                <a:solidFill>
                  <a:srgbClr val="002060"/>
                </a:solidFill>
                <a:latin typeface="Bookman Old Style" panose="02050604050505020204" pitchFamily="18" charset="0"/>
              </a:rPr>
              <a:t>Preprocessing Layer:</a:t>
            </a:r>
            <a:r>
              <a:rPr lang="en-US" sz="1600" dirty="0">
                <a:solidFill>
                  <a:srgbClr val="002060"/>
                </a:solidFill>
                <a:latin typeface="Bookman Old Style" panose="02050604050505020204" pitchFamily="18" charset="0"/>
              </a:rPr>
              <a:t> Standardizes raw data through cleaning, privacy preservation, and feature extraction for model readiness.</a:t>
            </a:r>
          </a:p>
          <a:p>
            <a:pPr algn="just">
              <a:lnSpc>
                <a:spcPct val="150000"/>
              </a:lnSpc>
            </a:pPr>
            <a:r>
              <a:rPr lang="en-US" sz="1600" b="1" dirty="0">
                <a:solidFill>
                  <a:srgbClr val="002060"/>
                </a:solidFill>
                <a:latin typeface="Bookman Old Style" panose="02050604050505020204" pitchFamily="18" charset="0"/>
              </a:rPr>
              <a:t>Core Intelligence Engine:</a:t>
            </a:r>
            <a:r>
              <a:rPr lang="en-US" sz="1600" dirty="0">
                <a:solidFill>
                  <a:srgbClr val="002060"/>
                </a:solidFill>
                <a:latin typeface="Bookman Old Style" panose="02050604050505020204" pitchFamily="18" charset="0"/>
              </a:rPr>
              <a:t> Performs graph-based learning, federated model training, and explainable outbreak prediction.</a:t>
            </a:r>
          </a:p>
          <a:p>
            <a:pPr algn="just">
              <a:lnSpc>
                <a:spcPct val="150000"/>
              </a:lnSpc>
            </a:pPr>
            <a:r>
              <a:rPr lang="en-US" sz="1600" b="1" dirty="0">
                <a:solidFill>
                  <a:srgbClr val="002060"/>
                </a:solidFill>
                <a:latin typeface="Bookman Old Style" panose="02050604050505020204" pitchFamily="18" charset="0"/>
              </a:rPr>
              <a:t>Analytics Layer:</a:t>
            </a:r>
            <a:r>
              <a:rPr lang="en-US" sz="1600" dirty="0">
                <a:solidFill>
                  <a:srgbClr val="002060"/>
                </a:solidFill>
                <a:latin typeface="Bookman Old Style" panose="02050604050505020204" pitchFamily="18" charset="0"/>
              </a:rPr>
              <a:t> Generates risk scores, fairness assessments, and interpretable model insights for decision support.</a:t>
            </a:r>
          </a:p>
          <a:p>
            <a:pPr algn="just">
              <a:lnSpc>
                <a:spcPct val="150000"/>
              </a:lnSpc>
            </a:pPr>
            <a:r>
              <a:rPr lang="en-US" sz="1600" b="1" dirty="0">
                <a:solidFill>
                  <a:srgbClr val="002060"/>
                </a:solidFill>
                <a:latin typeface="Bookman Old Style" panose="02050604050505020204" pitchFamily="18" charset="0"/>
              </a:rPr>
              <a:t>Output Dashboard:</a:t>
            </a:r>
            <a:r>
              <a:rPr lang="en-US" sz="1600" dirty="0">
                <a:solidFill>
                  <a:srgbClr val="002060"/>
                </a:solidFill>
                <a:latin typeface="Bookman Old Style" panose="02050604050505020204" pitchFamily="18" charset="0"/>
              </a:rPr>
              <a:t> Presents outbreak alerts, hotspot visualization, and actionable reports for stakeholders.</a:t>
            </a:r>
          </a:p>
        </p:txBody>
      </p:sp>
      <p:sp>
        <p:nvSpPr>
          <p:cNvPr id="12" name="TextBox 11">
            <a:extLst>
              <a:ext uri="{FF2B5EF4-FFF2-40B4-BE49-F238E27FC236}">
                <a16:creationId xmlns:a16="http://schemas.microsoft.com/office/drawing/2014/main" id="{D6EECB9D-4BC9-7F5A-4031-9BD03CECB2FE}"/>
              </a:ext>
            </a:extLst>
          </p:cNvPr>
          <p:cNvSpPr txBox="1"/>
          <p:nvPr/>
        </p:nvSpPr>
        <p:spPr>
          <a:xfrm>
            <a:off x="88490" y="6302291"/>
            <a:ext cx="2458065" cy="338554"/>
          </a:xfrm>
          <a:prstGeom prst="rect">
            <a:avLst/>
          </a:prstGeom>
          <a:noFill/>
        </p:spPr>
        <p:txBody>
          <a:bodyPr wrap="square" rtlCol="0">
            <a:spAutoFit/>
          </a:bodyPr>
          <a:lstStyle/>
          <a:p>
            <a:r>
              <a:rPr lang="en-US" sz="1600" b="1" dirty="0">
                <a:solidFill>
                  <a:srgbClr val="FF0000"/>
                </a:solidFill>
                <a:latin typeface="Bookman Old Style" panose="02050604050505020204" pitchFamily="18" charset="0"/>
              </a:rPr>
              <a:t>1</a:t>
            </a:r>
            <a:r>
              <a:rPr lang="en-US" sz="1600" b="1" baseline="30000" dirty="0">
                <a:solidFill>
                  <a:srgbClr val="FF0000"/>
                </a:solidFill>
                <a:latin typeface="Bookman Old Style" panose="02050604050505020204" pitchFamily="18" charset="0"/>
              </a:rPr>
              <a:t>st</a:t>
            </a:r>
            <a:r>
              <a:rPr lang="en-US" sz="1600" b="1" dirty="0">
                <a:solidFill>
                  <a:srgbClr val="FF0000"/>
                </a:solidFill>
                <a:latin typeface="Bookman Old Style" panose="02050604050505020204" pitchFamily="18" charset="0"/>
              </a:rPr>
              <a:t> April, 2026</a:t>
            </a:r>
            <a:endParaRPr lang="en-IN" sz="1600" b="1" dirty="0">
              <a:solidFill>
                <a:srgbClr val="FF0000"/>
              </a:solidFill>
              <a:latin typeface="Bookman Old Style" panose="02050604050505020204" pitchFamily="18" charset="0"/>
            </a:endParaRPr>
          </a:p>
        </p:txBody>
      </p:sp>
    </p:spTree>
    <p:extLst>
      <p:ext uri="{BB962C8B-B14F-4D97-AF65-F5344CB8AC3E}">
        <p14:creationId xmlns:p14="http://schemas.microsoft.com/office/powerpoint/2010/main" val="3735236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9"/>
          <p:cNvSpPr txBox="1">
            <a:spLocks noGrp="1"/>
          </p:cNvSpPr>
          <p:nvPr>
            <p:ph type="body" idx="1"/>
          </p:nvPr>
        </p:nvSpPr>
        <p:spPr>
          <a:xfrm>
            <a:off x="174811" y="1069220"/>
            <a:ext cx="11842377" cy="5277985"/>
          </a:xfrm>
          <a:prstGeom prst="rect">
            <a:avLst/>
          </a:prstGeom>
          <a:noFill/>
          <a:ln>
            <a:noFill/>
          </a:ln>
        </p:spPr>
        <p:txBody>
          <a:bodyPr spcFirstLastPara="1" wrap="square" lIns="91425" tIns="45700" rIns="91425" bIns="45700" anchor="t" anchorCtr="0">
            <a:normAutofit/>
          </a:bodyPr>
          <a:lstStyle/>
          <a:p>
            <a:pPr marL="0" lvl="0" indent="0" algn="just" rtl="0">
              <a:lnSpc>
                <a:spcPct val="150000"/>
              </a:lnSpc>
              <a:spcBef>
                <a:spcPts val="0"/>
              </a:spcBef>
              <a:spcAft>
                <a:spcPts val="0"/>
              </a:spcAft>
              <a:buClr>
                <a:srgbClr val="002060"/>
              </a:buClr>
              <a:buSzPts val="2800"/>
              <a:buNone/>
            </a:pPr>
            <a:r>
              <a:rPr lang="en-IN" sz="2000" b="1" dirty="0"/>
              <a:t>Tools and Resources Used:</a:t>
            </a:r>
          </a:p>
          <a:p>
            <a:pPr marL="342900" indent="-342900" algn="just">
              <a:lnSpc>
                <a:spcPct val="150000"/>
              </a:lnSpc>
              <a:spcBef>
                <a:spcPts val="0"/>
              </a:spcBef>
            </a:pPr>
            <a:r>
              <a:rPr lang="en-US" sz="2000" dirty="0"/>
              <a:t>Python – core development and data processing</a:t>
            </a:r>
          </a:p>
          <a:p>
            <a:pPr marL="342900" indent="-342900" algn="just">
              <a:lnSpc>
                <a:spcPct val="150000"/>
              </a:lnSpc>
              <a:spcBef>
                <a:spcPts val="0"/>
              </a:spcBef>
            </a:pPr>
            <a:r>
              <a:rPr lang="en-US" sz="2000" dirty="0" err="1"/>
              <a:t>PyTorch</a:t>
            </a:r>
            <a:r>
              <a:rPr lang="en-US" sz="2000" dirty="0"/>
              <a:t> Geometric – temporal graph neural networks</a:t>
            </a:r>
          </a:p>
          <a:p>
            <a:pPr marL="342900" indent="-342900" algn="just">
              <a:lnSpc>
                <a:spcPct val="150000"/>
              </a:lnSpc>
              <a:spcBef>
                <a:spcPts val="0"/>
              </a:spcBef>
            </a:pPr>
            <a:r>
              <a:rPr lang="en-US" sz="2000" dirty="0"/>
              <a:t>Flower / </a:t>
            </a:r>
            <a:r>
              <a:rPr lang="en-US" sz="2000" dirty="0" err="1"/>
              <a:t>OpenFL</a:t>
            </a:r>
            <a:r>
              <a:rPr lang="en-US" sz="2000" dirty="0"/>
              <a:t> – federated learning framework</a:t>
            </a:r>
            <a:endParaRPr lang="en-IN" sz="2000" dirty="0"/>
          </a:p>
          <a:p>
            <a:pPr marL="342900" indent="-342900" algn="just">
              <a:lnSpc>
                <a:spcPct val="150000"/>
              </a:lnSpc>
              <a:spcBef>
                <a:spcPts val="0"/>
              </a:spcBef>
            </a:pPr>
            <a:r>
              <a:rPr lang="en-US" sz="2000" dirty="0" err="1"/>
              <a:t>scispaCy</a:t>
            </a:r>
            <a:r>
              <a:rPr lang="en-US" sz="2000" dirty="0"/>
              <a:t> / </a:t>
            </a:r>
            <a:r>
              <a:rPr lang="en-US" sz="2000" dirty="0" err="1"/>
              <a:t>ClinicalBERT</a:t>
            </a:r>
            <a:r>
              <a:rPr lang="en-US" sz="2000" dirty="0"/>
              <a:t> – NER and clinical text processing pandas, NumPy – preprocessing and analysis</a:t>
            </a:r>
          </a:p>
          <a:p>
            <a:pPr marL="342900" indent="-342900" algn="just">
              <a:lnSpc>
                <a:spcPct val="150000"/>
              </a:lnSpc>
              <a:spcBef>
                <a:spcPts val="0"/>
              </a:spcBef>
            </a:pPr>
            <a:r>
              <a:rPr lang="en-US" sz="2000" dirty="0" err="1"/>
              <a:t>Streamlit</a:t>
            </a:r>
            <a:r>
              <a:rPr lang="en-US" sz="2000" dirty="0"/>
              <a:t> / Power BI – visualization dashboard </a:t>
            </a:r>
          </a:p>
          <a:p>
            <a:pPr marL="342900" indent="-342900" algn="just">
              <a:lnSpc>
                <a:spcPct val="150000"/>
              </a:lnSpc>
              <a:spcBef>
                <a:spcPts val="0"/>
              </a:spcBef>
            </a:pPr>
            <a:r>
              <a:rPr lang="en-US" sz="2000" dirty="0"/>
              <a:t>NASA POWER Dataset – weather parameters such as temperature, rainfall, and humidity</a:t>
            </a:r>
          </a:p>
          <a:p>
            <a:pPr marL="342900" indent="-342900" algn="just">
              <a:lnSpc>
                <a:spcPct val="150000"/>
              </a:lnSpc>
              <a:spcBef>
                <a:spcPts val="0"/>
              </a:spcBef>
            </a:pPr>
            <a:r>
              <a:rPr lang="en-IN" sz="2000" dirty="0" err="1"/>
              <a:t>DengueHub</a:t>
            </a:r>
            <a:r>
              <a:rPr lang="en-IN" sz="2000" dirty="0"/>
              <a:t> / CDC Dengue Dataset – historical dengue case records for outbreak trend </a:t>
            </a:r>
            <a:r>
              <a:rPr lang="en-IN" sz="2000" dirty="0" err="1"/>
              <a:t>analysisMalaria</a:t>
            </a:r>
            <a:r>
              <a:rPr lang="en-IN" sz="2000" dirty="0"/>
              <a:t> Atlas Project – malaria prevalence and regional surveillance data</a:t>
            </a:r>
            <a:endParaRPr lang="en-US" sz="2000" dirty="0"/>
          </a:p>
          <a:p>
            <a:pPr marL="0" lvl="0" indent="0" algn="just" rtl="0">
              <a:lnSpc>
                <a:spcPct val="150000"/>
              </a:lnSpc>
              <a:spcBef>
                <a:spcPts val="0"/>
              </a:spcBef>
              <a:spcAft>
                <a:spcPts val="0"/>
              </a:spcAft>
              <a:buClr>
                <a:srgbClr val="002060"/>
              </a:buClr>
              <a:buSzPts val="2800"/>
              <a:buNone/>
            </a:pPr>
            <a:endParaRPr sz="2000" b="1" dirty="0"/>
          </a:p>
        </p:txBody>
      </p:sp>
      <p:sp>
        <p:nvSpPr>
          <p:cNvPr id="184" name="Google Shape;184;p9"/>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14</a:t>
            </a:fld>
            <a:endParaRPr/>
          </a:p>
        </p:txBody>
      </p:sp>
      <p:sp>
        <p:nvSpPr>
          <p:cNvPr id="185" name="Google Shape;185;p9"/>
          <p:cNvSpPr txBox="1"/>
          <p:nvPr/>
        </p:nvSpPr>
        <p:spPr>
          <a:xfrm>
            <a:off x="2284362" y="0"/>
            <a:ext cx="8146571" cy="839401"/>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Methodology</a:t>
            </a:r>
            <a:endParaRPr/>
          </a:p>
        </p:txBody>
      </p:sp>
      <p:sp>
        <p:nvSpPr>
          <p:cNvPr id="2" name="TextBox 1">
            <a:extLst>
              <a:ext uri="{FF2B5EF4-FFF2-40B4-BE49-F238E27FC236}">
                <a16:creationId xmlns:a16="http://schemas.microsoft.com/office/drawing/2014/main" id="{E786AF0E-B691-7D9B-5CC9-DE41FFFDDB2D}"/>
              </a:ext>
            </a:extLst>
          </p:cNvPr>
          <p:cNvSpPr txBox="1"/>
          <p:nvPr/>
        </p:nvSpPr>
        <p:spPr>
          <a:xfrm>
            <a:off x="88490" y="6302291"/>
            <a:ext cx="2458065" cy="338554"/>
          </a:xfrm>
          <a:prstGeom prst="rect">
            <a:avLst/>
          </a:prstGeom>
          <a:noFill/>
        </p:spPr>
        <p:txBody>
          <a:bodyPr wrap="square" rtlCol="0">
            <a:spAutoFit/>
          </a:bodyPr>
          <a:lstStyle/>
          <a:p>
            <a:r>
              <a:rPr lang="en-US" sz="1600" b="1" dirty="0">
                <a:solidFill>
                  <a:srgbClr val="FF0000"/>
                </a:solidFill>
                <a:latin typeface="Bookman Old Style" panose="02050604050505020204" pitchFamily="18" charset="0"/>
              </a:rPr>
              <a:t>1</a:t>
            </a:r>
            <a:r>
              <a:rPr lang="en-US" sz="1600" b="1" baseline="30000" dirty="0">
                <a:solidFill>
                  <a:srgbClr val="FF0000"/>
                </a:solidFill>
                <a:latin typeface="Bookman Old Style" panose="02050604050505020204" pitchFamily="18" charset="0"/>
              </a:rPr>
              <a:t>st</a:t>
            </a:r>
            <a:r>
              <a:rPr lang="en-US" sz="1600" b="1" dirty="0">
                <a:solidFill>
                  <a:srgbClr val="FF0000"/>
                </a:solidFill>
                <a:latin typeface="Bookman Old Style" panose="02050604050505020204" pitchFamily="18" charset="0"/>
              </a:rPr>
              <a:t> April, 2026</a:t>
            </a:r>
            <a:endParaRPr lang="en-IN" sz="1600" b="1" dirty="0">
              <a:solidFill>
                <a:srgbClr val="FF0000"/>
              </a:solidFill>
              <a:latin typeface="Bookman Old Style" panose="020506040505050202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1">
          <a:extLst>
            <a:ext uri="{FF2B5EF4-FFF2-40B4-BE49-F238E27FC236}">
              <a16:creationId xmlns:a16="http://schemas.microsoft.com/office/drawing/2014/main" id="{844FFDC9-7A80-0BF7-7FCC-73FAC89CEDD5}"/>
            </a:ext>
          </a:extLst>
        </p:cNvPr>
        <p:cNvGrpSpPr/>
        <p:nvPr/>
      </p:nvGrpSpPr>
      <p:grpSpPr>
        <a:xfrm>
          <a:off x="0" y="0"/>
          <a:ext cx="0" cy="0"/>
          <a:chOff x="0" y="0"/>
          <a:chExt cx="0" cy="0"/>
        </a:xfrm>
      </p:grpSpPr>
      <p:sp>
        <p:nvSpPr>
          <p:cNvPr id="182" name="Google Shape;182;p9">
            <a:extLst>
              <a:ext uri="{FF2B5EF4-FFF2-40B4-BE49-F238E27FC236}">
                <a16:creationId xmlns:a16="http://schemas.microsoft.com/office/drawing/2014/main" id="{5A25FF09-9EE2-A5B2-38B7-3724C8CAD8D2}"/>
              </a:ext>
            </a:extLst>
          </p:cNvPr>
          <p:cNvSpPr txBox="1">
            <a:spLocks noGrp="1"/>
          </p:cNvSpPr>
          <p:nvPr>
            <p:ph type="body" idx="1"/>
          </p:nvPr>
        </p:nvSpPr>
        <p:spPr>
          <a:xfrm>
            <a:off x="0" y="839401"/>
            <a:ext cx="11842377" cy="5277985"/>
          </a:xfrm>
          <a:prstGeom prst="rect">
            <a:avLst/>
          </a:prstGeom>
          <a:noFill/>
          <a:ln>
            <a:noFill/>
          </a:ln>
        </p:spPr>
        <p:txBody>
          <a:bodyPr spcFirstLastPara="1" wrap="square" lIns="91425" tIns="45700" rIns="91425" bIns="45700" anchor="t" anchorCtr="0">
            <a:noAutofit/>
          </a:bodyPr>
          <a:lstStyle/>
          <a:p>
            <a:pPr algn="just">
              <a:lnSpc>
                <a:spcPct val="150000"/>
              </a:lnSpc>
            </a:pPr>
            <a:r>
              <a:rPr lang="en-US" sz="1600" b="1" dirty="0"/>
              <a:t>DMS (Discrete Mathematics):</a:t>
            </a:r>
          </a:p>
          <a:p>
            <a:pPr marL="793750" lvl="1" indent="-285750" algn="just">
              <a:lnSpc>
                <a:spcPct val="150000"/>
              </a:lnSpc>
            </a:pPr>
            <a:r>
              <a:rPr lang="en-US" sz="1600" b="1" dirty="0">
                <a:solidFill>
                  <a:srgbClr val="002060"/>
                </a:solidFill>
              </a:rPr>
              <a:t>Graph Theory:</a:t>
            </a:r>
            <a:r>
              <a:rPr lang="en-US" sz="1600" dirty="0">
                <a:solidFill>
                  <a:srgbClr val="002060"/>
                </a:solidFill>
              </a:rPr>
              <a:t> Modeling hospitals, regions, and disease spread as nodes and edges </a:t>
            </a:r>
          </a:p>
          <a:p>
            <a:pPr marL="793750" lvl="1" indent="-285750" algn="just">
              <a:lnSpc>
                <a:spcPct val="150000"/>
              </a:lnSpc>
            </a:pPr>
            <a:r>
              <a:rPr lang="en-US" sz="1600" b="1" dirty="0">
                <a:solidFill>
                  <a:srgbClr val="002060"/>
                </a:solidFill>
              </a:rPr>
              <a:t>Set Theory &amp; Relations:</a:t>
            </a:r>
            <a:r>
              <a:rPr lang="en-US" sz="1600" dirty="0">
                <a:solidFill>
                  <a:srgbClr val="002060"/>
                </a:solidFill>
              </a:rPr>
              <a:t> Defining interconnections between patients, hospitals, and geographic regions </a:t>
            </a:r>
          </a:p>
          <a:p>
            <a:pPr marL="793750" lvl="1" indent="-285750" algn="just">
              <a:lnSpc>
                <a:spcPct val="150000"/>
              </a:lnSpc>
            </a:pPr>
            <a:r>
              <a:rPr lang="en-US" sz="1600" b="1" dirty="0">
                <a:solidFill>
                  <a:srgbClr val="002060"/>
                </a:solidFill>
              </a:rPr>
              <a:t>Logic &amp; Probability:</a:t>
            </a:r>
            <a:r>
              <a:rPr lang="en-US" sz="1600" dirty="0">
                <a:solidFill>
                  <a:srgbClr val="002060"/>
                </a:solidFill>
              </a:rPr>
              <a:t> Risk estimation and outbreak classification decisions</a:t>
            </a:r>
          </a:p>
          <a:p>
            <a:pPr algn="just">
              <a:lnSpc>
                <a:spcPct val="150000"/>
              </a:lnSpc>
            </a:pPr>
            <a:r>
              <a:rPr lang="en-IN" sz="1600" b="1" dirty="0"/>
              <a:t>DAA (Design and Analysis of Algorithms)</a:t>
            </a:r>
          </a:p>
          <a:p>
            <a:pPr marL="793750" lvl="1" indent="-285750" algn="just">
              <a:lnSpc>
                <a:spcPct val="150000"/>
              </a:lnSpc>
            </a:pPr>
            <a:r>
              <a:rPr lang="en-IN" sz="1600" b="1" dirty="0">
                <a:solidFill>
                  <a:srgbClr val="002060"/>
                </a:solidFill>
              </a:rPr>
              <a:t>Graph Traversal &amp; Path Analysis:</a:t>
            </a:r>
            <a:r>
              <a:rPr lang="en-IN" sz="1600" dirty="0">
                <a:solidFill>
                  <a:srgbClr val="002060"/>
                </a:solidFill>
              </a:rPr>
              <a:t> Modelling disease spread pathways across regions </a:t>
            </a:r>
          </a:p>
          <a:p>
            <a:pPr marL="793750" lvl="1" indent="-285750" algn="just">
              <a:lnSpc>
                <a:spcPct val="150000"/>
              </a:lnSpc>
            </a:pPr>
            <a:r>
              <a:rPr lang="en-IN" sz="1600" b="1" dirty="0">
                <a:solidFill>
                  <a:srgbClr val="002060"/>
                </a:solidFill>
              </a:rPr>
              <a:t>Optimization Algorithms:</a:t>
            </a:r>
            <a:r>
              <a:rPr lang="en-IN" sz="1600" dirty="0">
                <a:solidFill>
                  <a:srgbClr val="002060"/>
                </a:solidFill>
              </a:rPr>
              <a:t> Efficient federated aggregation and model update strategies </a:t>
            </a:r>
          </a:p>
          <a:p>
            <a:pPr marL="793750" lvl="1" indent="-285750" algn="just">
              <a:lnSpc>
                <a:spcPct val="150000"/>
              </a:lnSpc>
            </a:pPr>
            <a:r>
              <a:rPr lang="en-IN" sz="1600" b="1" dirty="0">
                <a:solidFill>
                  <a:srgbClr val="002060"/>
                </a:solidFill>
              </a:rPr>
              <a:t>Complexity Analysis:</a:t>
            </a:r>
            <a:r>
              <a:rPr lang="en-IN" sz="1600" dirty="0">
                <a:solidFill>
                  <a:srgbClr val="002060"/>
                </a:solidFill>
              </a:rPr>
              <a:t> Evaluating time and space efficiency of GNN and forecasting pipeline</a:t>
            </a:r>
          </a:p>
          <a:p>
            <a:pPr algn="just">
              <a:lnSpc>
                <a:spcPct val="150000"/>
              </a:lnSpc>
            </a:pPr>
            <a:r>
              <a:rPr lang="en-US" sz="1600" b="1" dirty="0"/>
              <a:t>CN (Computer Networks)</a:t>
            </a:r>
          </a:p>
          <a:p>
            <a:pPr marL="793750" lvl="1" indent="-285750" algn="just">
              <a:lnSpc>
                <a:spcPct val="150000"/>
              </a:lnSpc>
            </a:pPr>
            <a:r>
              <a:rPr lang="en-US" sz="1600" b="1" dirty="0">
                <a:solidFill>
                  <a:srgbClr val="002060"/>
                </a:solidFill>
              </a:rPr>
              <a:t>Distributed Communication:</a:t>
            </a:r>
            <a:r>
              <a:rPr lang="en-US" sz="1600" dirty="0">
                <a:solidFill>
                  <a:srgbClr val="002060"/>
                </a:solidFill>
              </a:rPr>
              <a:t> Secure model update exchange between hospital clients and central server </a:t>
            </a:r>
          </a:p>
          <a:p>
            <a:pPr marL="793750" lvl="1" indent="-285750" algn="just">
              <a:lnSpc>
                <a:spcPct val="150000"/>
              </a:lnSpc>
            </a:pPr>
            <a:r>
              <a:rPr lang="en-US" sz="1600" b="1" dirty="0">
                <a:solidFill>
                  <a:srgbClr val="002060"/>
                </a:solidFill>
              </a:rPr>
              <a:t>Client-Server Architecture:</a:t>
            </a:r>
            <a:r>
              <a:rPr lang="en-US" sz="1600" dirty="0">
                <a:solidFill>
                  <a:srgbClr val="002060"/>
                </a:solidFill>
              </a:rPr>
              <a:t> Federated learning workflow across multiple simulated hospitals </a:t>
            </a:r>
          </a:p>
          <a:p>
            <a:pPr marL="793750" lvl="1" indent="-285750" algn="just">
              <a:lnSpc>
                <a:spcPct val="150000"/>
              </a:lnSpc>
            </a:pPr>
            <a:r>
              <a:rPr lang="en-US" sz="1600" b="1" dirty="0">
                <a:solidFill>
                  <a:srgbClr val="002060"/>
                </a:solidFill>
              </a:rPr>
              <a:t>Data Security &amp; Privacy:</a:t>
            </a:r>
            <a:r>
              <a:rPr lang="en-US" sz="1600" dirty="0">
                <a:solidFill>
                  <a:srgbClr val="002060"/>
                </a:solidFill>
              </a:rPr>
              <a:t> Secure transmission of local model parameters </a:t>
            </a:r>
          </a:p>
          <a:p>
            <a:pPr marL="0" lvl="0" indent="0" algn="just" rtl="0">
              <a:lnSpc>
                <a:spcPct val="150000"/>
              </a:lnSpc>
              <a:spcBef>
                <a:spcPts val="0"/>
              </a:spcBef>
              <a:spcAft>
                <a:spcPts val="0"/>
              </a:spcAft>
              <a:buClr>
                <a:srgbClr val="002060"/>
              </a:buClr>
              <a:buSzPts val="2800"/>
              <a:buNone/>
            </a:pPr>
            <a:endParaRPr sz="1600" b="1" dirty="0"/>
          </a:p>
        </p:txBody>
      </p:sp>
      <p:sp>
        <p:nvSpPr>
          <p:cNvPr id="184" name="Google Shape;184;p9">
            <a:extLst>
              <a:ext uri="{FF2B5EF4-FFF2-40B4-BE49-F238E27FC236}">
                <a16:creationId xmlns:a16="http://schemas.microsoft.com/office/drawing/2014/main" id="{97A05BCF-072F-B38C-868E-914D1A5ECA11}"/>
              </a:ext>
            </a:extLst>
          </p:cNvPr>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15</a:t>
            </a:fld>
            <a:endParaRPr/>
          </a:p>
        </p:txBody>
      </p:sp>
      <p:sp>
        <p:nvSpPr>
          <p:cNvPr id="185" name="Google Shape;185;p9">
            <a:extLst>
              <a:ext uri="{FF2B5EF4-FFF2-40B4-BE49-F238E27FC236}">
                <a16:creationId xmlns:a16="http://schemas.microsoft.com/office/drawing/2014/main" id="{93D7920A-1E6B-6EDB-E7F0-288A99D4A0B2}"/>
              </a:ext>
            </a:extLst>
          </p:cNvPr>
          <p:cNvSpPr txBox="1"/>
          <p:nvPr/>
        </p:nvSpPr>
        <p:spPr>
          <a:xfrm>
            <a:off x="2284362" y="0"/>
            <a:ext cx="8146571" cy="839401"/>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4000" b="1" dirty="0">
                <a:solidFill>
                  <a:srgbClr val="C00000"/>
                </a:solidFill>
                <a:latin typeface="Bookman Old Style"/>
                <a:sym typeface="Bookman Old Style"/>
              </a:rPr>
              <a:t>S</a:t>
            </a:r>
            <a:r>
              <a:rPr lang="en-IN" sz="4000" b="1" dirty="0">
                <a:solidFill>
                  <a:srgbClr val="C00000"/>
                </a:solidFill>
                <a:latin typeface="Bookman Old Style"/>
                <a:sym typeface="Bookman Old Style"/>
              </a:rPr>
              <a:t>ubject Relevance</a:t>
            </a:r>
            <a:endParaRPr dirty="0"/>
          </a:p>
        </p:txBody>
      </p:sp>
      <p:sp>
        <p:nvSpPr>
          <p:cNvPr id="2" name="TextBox 1">
            <a:extLst>
              <a:ext uri="{FF2B5EF4-FFF2-40B4-BE49-F238E27FC236}">
                <a16:creationId xmlns:a16="http://schemas.microsoft.com/office/drawing/2014/main" id="{DE193973-1BF4-D349-9B36-9721CEABA133}"/>
              </a:ext>
            </a:extLst>
          </p:cNvPr>
          <p:cNvSpPr txBox="1"/>
          <p:nvPr/>
        </p:nvSpPr>
        <p:spPr>
          <a:xfrm>
            <a:off x="88490" y="6302291"/>
            <a:ext cx="2458065" cy="338554"/>
          </a:xfrm>
          <a:prstGeom prst="rect">
            <a:avLst/>
          </a:prstGeom>
          <a:noFill/>
        </p:spPr>
        <p:txBody>
          <a:bodyPr wrap="square" rtlCol="0">
            <a:spAutoFit/>
          </a:bodyPr>
          <a:lstStyle/>
          <a:p>
            <a:r>
              <a:rPr lang="en-US" sz="1600" b="1" dirty="0">
                <a:solidFill>
                  <a:srgbClr val="FF0000"/>
                </a:solidFill>
                <a:latin typeface="Bookman Old Style" panose="02050604050505020204" pitchFamily="18" charset="0"/>
              </a:rPr>
              <a:t>1</a:t>
            </a:r>
            <a:r>
              <a:rPr lang="en-US" sz="1600" b="1" baseline="30000" dirty="0">
                <a:solidFill>
                  <a:srgbClr val="FF0000"/>
                </a:solidFill>
                <a:latin typeface="Bookman Old Style" panose="02050604050505020204" pitchFamily="18" charset="0"/>
              </a:rPr>
              <a:t>st</a:t>
            </a:r>
            <a:r>
              <a:rPr lang="en-US" sz="1600" b="1" dirty="0">
                <a:solidFill>
                  <a:srgbClr val="FF0000"/>
                </a:solidFill>
                <a:latin typeface="Bookman Old Style" panose="02050604050505020204" pitchFamily="18" charset="0"/>
              </a:rPr>
              <a:t> April, 2026</a:t>
            </a:r>
            <a:endParaRPr lang="en-IN" sz="1600" b="1" dirty="0">
              <a:solidFill>
                <a:srgbClr val="FF0000"/>
              </a:solidFill>
              <a:latin typeface="Bookman Old Style" panose="02050604050505020204" pitchFamily="18" charset="0"/>
            </a:endParaRPr>
          </a:p>
        </p:txBody>
      </p:sp>
    </p:spTree>
    <p:extLst>
      <p:ext uri="{BB962C8B-B14F-4D97-AF65-F5344CB8AC3E}">
        <p14:creationId xmlns:p14="http://schemas.microsoft.com/office/powerpoint/2010/main" val="4721659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1">
          <a:extLst>
            <a:ext uri="{FF2B5EF4-FFF2-40B4-BE49-F238E27FC236}">
              <a16:creationId xmlns:a16="http://schemas.microsoft.com/office/drawing/2014/main" id="{43275315-60C4-88FF-36F8-DF739F90ECFA}"/>
            </a:ext>
          </a:extLst>
        </p:cNvPr>
        <p:cNvGrpSpPr/>
        <p:nvPr/>
      </p:nvGrpSpPr>
      <p:grpSpPr>
        <a:xfrm>
          <a:off x="0" y="0"/>
          <a:ext cx="0" cy="0"/>
          <a:chOff x="0" y="0"/>
          <a:chExt cx="0" cy="0"/>
        </a:xfrm>
      </p:grpSpPr>
      <p:sp>
        <p:nvSpPr>
          <p:cNvPr id="182" name="Google Shape;182;p9">
            <a:extLst>
              <a:ext uri="{FF2B5EF4-FFF2-40B4-BE49-F238E27FC236}">
                <a16:creationId xmlns:a16="http://schemas.microsoft.com/office/drawing/2014/main" id="{3E966DB1-EE78-1DCD-BBA8-6ADEBDF83D4A}"/>
              </a:ext>
            </a:extLst>
          </p:cNvPr>
          <p:cNvSpPr txBox="1">
            <a:spLocks noGrp="1"/>
          </p:cNvSpPr>
          <p:nvPr>
            <p:ph type="body" idx="1"/>
          </p:nvPr>
        </p:nvSpPr>
        <p:spPr>
          <a:xfrm>
            <a:off x="174811" y="1069220"/>
            <a:ext cx="11842377" cy="5277985"/>
          </a:xfrm>
          <a:prstGeom prst="rect">
            <a:avLst/>
          </a:prstGeom>
          <a:noFill/>
          <a:ln>
            <a:noFill/>
          </a:ln>
        </p:spPr>
        <p:txBody>
          <a:bodyPr spcFirstLastPara="1" wrap="square" lIns="91425" tIns="45700" rIns="91425" bIns="45700" anchor="t" anchorCtr="0">
            <a:normAutofit/>
          </a:bodyPr>
          <a:lstStyle/>
          <a:p>
            <a:pPr algn="just">
              <a:lnSpc>
                <a:spcPct val="150000"/>
              </a:lnSpc>
            </a:pPr>
            <a:r>
              <a:rPr lang="en-US" sz="2000" b="1" dirty="0"/>
              <a:t>SDGs (Sustainable Development Goals)</a:t>
            </a:r>
          </a:p>
          <a:p>
            <a:pPr marL="793750" lvl="1" indent="-285750" algn="just">
              <a:lnSpc>
                <a:spcPct val="150000"/>
              </a:lnSpc>
            </a:pPr>
            <a:r>
              <a:rPr lang="en-US" sz="2000" b="1" dirty="0">
                <a:solidFill>
                  <a:srgbClr val="002060"/>
                </a:solidFill>
              </a:rPr>
              <a:t>SDG 3 – Good Health and Well-Being:</a:t>
            </a:r>
            <a:r>
              <a:rPr lang="en-US" sz="2000" dirty="0">
                <a:solidFill>
                  <a:srgbClr val="002060"/>
                </a:solidFill>
              </a:rPr>
              <a:t> Early epidemic detection and timely intervention </a:t>
            </a:r>
          </a:p>
          <a:p>
            <a:pPr marL="793750" lvl="1" indent="-285750" algn="just">
              <a:lnSpc>
                <a:spcPct val="150000"/>
              </a:lnSpc>
            </a:pPr>
            <a:r>
              <a:rPr lang="en-US" sz="2000" b="1" dirty="0">
                <a:solidFill>
                  <a:srgbClr val="002060"/>
                </a:solidFill>
              </a:rPr>
              <a:t>SDG 9 – Industry, Innovation and Infrastructure:</a:t>
            </a:r>
            <a:r>
              <a:rPr lang="en-US" sz="2000" dirty="0">
                <a:solidFill>
                  <a:srgbClr val="002060"/>
                </a:solidFill>
              </a:rPr>
              <a:t> AI-driven healthcare intelligence systems </a:t>
            </a:r>
          </a:p>
          <a:p>
            <a:pPr marL="793750" lvl="1" indent="-285750" algn="just">
              <a:lnSpc>
                <a:spcPct val="150000"/>
              </a:lnSpc>
            </a:pPr>
            <a:r>
              <a:rPr lang="en-US" sz="2000" b="1" dirty="0">
                <a:solidFill>
                  <a:srgbClr val="002060"/>
                </a:solidFill>
              </a:rPr>
              <a:t>SDG 11 – Sustainable Cities and Communities:</a:t>
            </a:r>
            <a:r>
              <a:rPr lang="en-US" sz="2000" dirty="0">
                <a:solidFill>
                  <a:srgbClr val="002060"/>
                </a:solidFill>
              </a:rPr>
              <a:t> Better urban outbreak preparedness</a:t>
            </a:r>
          </a:p>
          <a:p>
            <a:pPr marL="0" lvl="0" indent="0" algn="just" rtl="0">
              <a:lnSpc>
                <a:spcPct val="150000"/>
              </a:lnSpc>
              <a:spcBef>
                <a:spcPts val="0"/>
              </a:spcBef>
              <a:spcAft>
                <a:spcPts val="0"/>
              </a:spcAft>
              <a:buClr>
                <a:srgbClr val="002060"/>
              </a:buClr>
              <a:buSzPts val="2800"/>
              <a:buNone/>
            </a:pPr>
            <a:endParaRPr sz="2000" b="1" dirty="0"/>
          </a:p>
        </p:txBody>
      </p:sp>
      <p:sp>
        <p:nvSpPr>
          <p:cNvPr id="184" name="Google Shape;184;p9">
            <a:extLst>
              <a:ext uri="{FF2B5EF4-FFF2-40B4-BE49-F238E27FC236}">
                <a16:creationId xmlns:a16="http://schemas.microsoft.com/office/drawing/2014/main" id="{36CA6E73-62B4-05FB-70EE-506DD6D6BCDB}"/>
              </a:ext>
            </a:extLst>
          </p:cNvPr>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16</a:t>
            </a:fld>
            <a:endParaRPr/>
          </a:p>
        </p:txBody>
      </p:sp>
      <p:sp>
        <p:nvSpPr>
          <p:cNvPr id="185" name="Google Shape;185;p9">
            <a:extLst>
              <a:ext uri="{FF2B5EF4-FFF2-40B4-BE49-F238E27FC236}">
                <a16:creationId xmlns:a16="http://schemas.microsoft.com/office/drawing/2014/main" id="{D9FE6B4D-5872-58C0-59CE-8716CDAC6D1D}"/>
              </a:ext>
            </a:extLst>
          </p:cNvPr>
          <p:cNvSpPr txBox="1"/>
          <p:nvPr/>
        </p:nvSpPr>
        <p:spPr>
          <a:xfrm>
            <a:off x="2284362" y="0"/>
            <a:ext cx="8146571" cy="839401"/>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4000" b="1" dirty="0">
                <a:solidFill>
                  <a:srgbClr val="C00000"/>
                </a:solidFill>
                <a:latin typeface="Bookman Old Style"/>
                <a:sym typeface="Bookman Old Style"/>
              </a:rPr>
              <a:t>S</a:t>
            </a:r>
            <a:r>
              <a:rPr lang="en-IN" sz="4000" b="1" dirty="0">
                <a:solidFill>
                  <a:srgbClr val="C00000"/>
                </a:solidFill>
                <a:latin typeface="Bookman Old Style"/>
                <a:sym typeface="Bookman Old Style"/>
              </a:rPr>
              <a:t>ubject Relevance</a:t>
            </a:r>
            <a:endParaRPr dirty="0"/>
          </a:p>
        </p:txBody>
      </p:sp>
      <p:sp>
        <p:nvSpPr>
          <p:cNvPr id="2" name="TextBox 1">
            <a:extLst>
              <a:ext uri="{FF2B5EF4-FFF2-40B4-BE49-F238E27FC236}">
                <a16:creationId xmlns:a16="http://schemas.microsoft.com/office/drawing/2014/main" id="{FA33EA16-8218-441A-AB2B-BEC0BB280499}"/>
              </a:ext>
            </a:extLst>
          </p:cNvPr>
          <p:cNvSpPr txBox="1"/>
          <p:nvPr/>
        </p:nvSpPr>
        <p:spPr>
          <a:xfrm>
            <a:off x="88490" y="6302291"/>
            <a:ext cx="2458065" cy="338554"/>
          </a:xfrm>
          <a:prstGeom prst="rect">
            <a:avLst/>
          </a:prstGeom>
          <a:noFill/>
        </p:spPr>
        <p:txBody>
          <a:bodyPr wrap="square" rtlCol="0">
            <a:spAutoFit/>
          </a:bodyPr>
          <a:lstStyle/>
          <a:p>
            <a:r>
              <a:rPr lang="en-US" sz="1600" b="1" dirty="0">
                <a:solidFill>
                  <a:srgbClr val="FF0000"/>
                </a:solidFill>
                <a:latin typeface="Bookman Old Style" panose="02050604050505020204" pitchFamily="18" charset="0"/>
              </a:rPr>
              <a:t>1</a:t>
            </a:r>
            <a:r>
              <a:rPr lang="en-US" sz="1600" b="1" baseline="30000" dirty="0">
                <a:solidFill>
                  <a:srgbClr val="FF0000"/>
                </a:solidFill>
                <a:latin typeface="Bookman Old Style" panose="02050604050505020204" pitchFamily="18" charset="0"/>
              </a:rPr>
              <a:t>st</a:t>
            </a:r>
            <a:r>
              <a:rPr lang="en-US" sz="1600" b="1" dirty="0">
                <a:solidFill>
                  <a:srgbClr val="FF0000"/>
                </a:solidFill>
                <a:latin typeface="Bookman Old Style" panose="02050604050505020204" pitchFamily="18" charset="0"/>
              </a:rPr>
              <a:t> April, 2026</a:t>
            </a:r>
            <a:endParaRPr lang="en-IN" sz="1600" b="1" dirty="0">
              <a:solidFill>
                <a:srgbClr val="FF0000"/>
              </a:solidFill>
              <a:latin typeface="Bookman Old Style" panose="02050604050505020204" pitchFamily="18" charset="0"/>
            </a:endParaRPr>
          </a:p>
        </p:txBody>
      </p:sp>
    </p:spTree>
    <p:extLst>
      <p:ext uri="{BB962C8B-B14F-4D97-AF65-F5344CB8AC3E}">
        <p14:creationId xmlns:p14="http://schemas.microsoft.com/office/powerpoint/2010/main" val="40281867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11"/>
          <p:cNvSpPr txBox="1">
            <a:spLocks noGrp="1"/>
          </p:cNvSpPr>
          <p:nvPr>
            <p:ph type="body" idx="1"/>
          </p:nvPr>
        </p:nvSpPr>
        <p:spPr>
          <a:xfrm>
            <a:off x="247650" y="1117600"/>
            <a:ext cx="11769538" cy="5229605"/>
          </a:xfrm>
          <a:prstGeom prst="rect">
            <a:avLst/>
          </a:prstGeom>
          <a:noFill/>
          <a:ln>
            <a:noFill/>
          </a:ln>
        </p:spPr>
        <p:txBody>
          <a:bodyPr spcFirstLastPara="1" wrap="square" lIns="91425" tIns="45700" rIns="91425" bIns="45700" anchor="t" anchorCtr="0">
            <a:normAutofit/>
          </a:bodyPr>
          <a:lstStyle/>
          <a:p>
            <a:pPr marL="228600" lvl="0" indent="-228600" algn="just">
              <a:lnSpc>
                <a:spcPct val="150000"/>
              </a:lnSpc>
              <a:spcBef>
                <a:spcPts val="0"/>
              </a:spcBef>
            </a:pPr>
            <a:r>
              <a:rPr lang="en-IN" sz="2000" b="1" dirty="0"/>
              <a:t>Expected Results: </a:t>
            </a:r>
          </a:p>
          <a:p>
            <a:pPr algn="just"/>
            <a:r>
              <a:rPr lang="en-US" sz="2000" b="1" dirty="0"/>
              <a:t>Early Outbreak Forecasting:</a:t>
            </a:r>
            <a:r>
              <a:rPr lang="en-US" sz="2000" dirty="0"/>
              <a:t> Predict dengue and malaria outbreak risk in advance with improved accuracy. </a:t>
            </a:r>
          </a:p>
          <a:p>
            <a:pPr algn="just"/>
            <a:r>
              <a:rPr lang="en-US" sz="2000" b="1" dirty="0"/>
              <a:t>Privacy-Preserving Surveillance:</a:t>
            </a:r>
            <a:r>
              <a:rPr lang="en-US" sz="2000" dirty="0"/>
              <a:t> Enable secure collaborative analysis without sharing sensitive healthcare data. </a:t>
            </a:r>
          </a:p>
          <a:p>
            <a:pPr algn="just"/>
            <a:r>
              <a:rPr lang="en-US" sz="2000" b="1" dirty="0"/>
              <a:t>Explainable Decision Support:</a:t>
            </a:r>
            <a:r>
              <a:rPr lang="en-US" sz="2000" dirty="0"/>
              <a:t> Provide interpretable risk insights for timely public health intervention. </a:t>
            </a:r>
            <a:endParaRPr lang="en-IN" sz="2000" b="1" dirty="0"/>
          </a:p>
          <a:p>
            <a:pPr marL="228600" lvl="0" indent="-228600" algn="just">
              <a:lnSpc>
                <a:spcPct val="150000"/>
              </a:lnSpc>
              <a:spcBef>
                <a:spcPts val="0"/>
              </a:spcBef>
            </a:pPr>
            <a:r>
              <a:rPr lang="en-IN" sz="2000" b="1" dirty="0"/>
              <a:t>Potential Impact on the Field:</a:t>
            </a:r>
            <a:r>
              <a:rPr lang="en-IN" sz="2000" dirty="0"/>
              <a:t> </a:t>
            </a:r>
            <a:r>
              <a:rPr lang="en-US" sz="2000" dirty="0"/>
              <a:t>The project can support proactive public health decision-making, better resource allocation, and advancement of AI-driven disease surveillance systems.</a:t>
            </a:r>
          </a:p>
          <a:p>
            <a:pPr marL="228600" indent="-228600" algn="just">
              <a:lnSpc>
                <a:spcPct val="150000"/>
              </a:lnSpc>
              <a:spcBef>
                <a:spcPts val="0"/>
              </a:spcBef>
            </a:pPr>
            <a:r>
              <a:rPr lang="en-IN" sz="2000" b="1" dirty="0"/>
              <a:t>Future Research Directions: </a:t>
            </a:r>
            <a:r>
              <a:rPr lang="en-US" sz="2000" dirty="0"/>
              <a:t>The framework can be extended to other infectious diseases, real-time hospital networks, and advanced multimodal epidemic forecasting models.</a:t>
            </a:r>
          </a:p>
          <a:p>
            <a:pPr marL="228600" lvl="0" indent="-228600" algn="just">
              <a:lnSpc>
                <a:spcPct val="150000"/>
              </a:lnSpc>
              <a:spcBef>
                <a:spcPts val="0"/>
              </a:spcBef>
            </a:pPr>
            <a:endParaRPr sz="2000" dirty="0"/>
          </a:p>
        </p:txBody>
      </p:sp>
      <p:sp>
        <p:nvSpPr>
          <p:cNvPr id="200" name="Google Shape;200;p11"/>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17</a:t>
            </a:fld>
            <a:endParaRPr/>
          </a:p>
        </p:txBody>
      </p:sp>
      <p:sp>
        <p:nvSpPr>
          <p:cNvPr id="201" name="Google Shape;201;p11"/>
          <p:cNvSpPr txBox="1"/>
          <p:nvPr/>
        </p:nvSpPr>
        <p:spPr>
          <a:xfrm>
            <a:off x="2284362" y="0"/>
            <a:ext cx="8146571" cy="839401"/>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Proposed Outcomes</a:t>
            </a:r>
            <a:endParaRPr/>
          </a:p>
        </p:txBody>
      </p:sp>
      <p:sp>
        <p:nvSpPr>
          <p:cNvPr id="2" name="TextBox 1">
            <a:extLst>
              <a:ext uri="{FF2B5EF4-FFF2-40B4-BE49-F238E27FC236}">
                <a16:creationId xmlns:a16="http://schemas.microsoft.com/office/drawing/2014/main" id="{B4E54190-E4A0-6CFC-4CE2-AE403849E3C2}"/>
              </a:ext>
            </a:extLst>
          </p:cNvPr>
          <p:cNvSpPr txBox="1"/>
          <p:nvPr/>
        </p:nvSpPr>
        <p:spPr>
          <a:xfrm>
            <a:off x="88490" y="6302291"/>
            <a:ext cx="2458065" cy="338554"/>
          </a:xfrm>
          <a:prstGeom prst="rect">
            <a:avLst/>
          </a:prstGeom>
          <a:noFill/>
        </p:spPr>
        <p:txBody>
          <a:bodyPr wrap="square" rtlCol="0">
            <a:spAutoFit/>
          </a:bodyPr>
          <a:lstStyle/>
          <a:p>
            <a:r>
              <a:rPr lang="en-US" sz="1600" b="1" dirty="0">
                <a:solidFill>
                  <a:srgbClr val="FF0000"/>
                </a:solidFill>
                <a:latin typeface="Bookman Old Style" panose="02050604050505020204" pitchFamily="18" charset="0"/>
              </a:rPr>
              <a:t>1</a:t>
            </a:r>
            <a:r>
              <a:rPr lang="en-US" sz="1600" b="1" baseline="30000" dirty="0">
                <a:solidFill>
                  <a:srgbClr val="FF0000"/>
                </a:solidFill>
                <a:latin typeface="Bookman Old Style" panose="02050604050505020204" pitchFamily="18" charset="0"/>
              </a:rPr>
              <a:t>st</a:t>
            </a:r>
            <a:r>
              <a:rPr lang="en-US" sz="1600" b="1" dirty="0">
                <a:solidFill>
                  <a:srgbClr val="FF0000"/>
                </a:solidFill>
                <a:latin typeface="Bookman Old Style" panose="02050604050505020204" pitchFamily="18" charset="0"/>
              </a:rPr>
              <a:t> April, 2026</a:t>
            </a:r>
            <a:endParaRPr lang="en-IN" sz="1600" b="1" dirty="0">
              <a:solidFill>
                <a:srgbClr val="FF0000"/>
              </a:solidFill>
              <a:latin typeface="Bookman Old Style" panose="020506040505050202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12"/>
          <p:cNvSpPr txBox="1">
            <a:spLocks noGrp="1"/>
          </p:cNvSpPr>
          <p:nvPr>
            <p:ph type="body" idx="1"/>
          </p:nvPr>
        </p:nvSpPr>
        <p:spPr>
          <a:xfrm>
            <a:off x="247650" y="1117600"/>
            <a:ext cx="11769538" cy="5229605"/>
          </a:xfrm>
          <a:prstGeom prst="rect">
            <a:avLst/>
          </a:prstGeom>
          <a:noFill/>
          <a:ln>
            <a:noFill/>
          </a:ln>
        </p:spPr>
        <p:txBody>
          <a:bodyPr spcFirstLastPara="1" wrap="square" lIns="91425" tIns="45700" rIns="91425" bIns="45700" anchor="t" anchorCtr="0">
            <a:normAutofit fontScale="70000" lnSpcReduction="20000"/>
          </a:bodyPr>
          <a:lstStyle/>
          <a:p>
            <a:pPr marL="228600" lvl="0" indent="-228600" algn="just" rtl="0">
              <a:lnSpc>
                <a:spcPct val="90000"/>
              </a:lnSpc>
              <a:spcBef>
                <a:spcPts val="0"/>
              </a:spcBef>
              <a:spcAft>
                <a:spcPts val="0"/>
              </a:spcAft>
              <a:buClr>
                <a:srgbClr val="002060"/>
              </a:buClr>
              <a:buSzPct val="100000"/>
              <a:buChar char="•"/>
            </a:pPr>
            <a:r>
              <a:rPr lang="en-IN" b="1" dirty="0"/>
              <a:t>Project Timeline Overview</a:t>
            </a:r>
            <a:endParaRPr dirty="0"/>
          </a:p>
          <a:p>
            <a:pPr marL="228600" lvl="0" indent="-228600" algn="just" rtl="0">
              <a:lnSpc>
                <a:spcPct val="90000"/>
              </a:lnSpc>
              <a:spcBef>
                <a:spcPts val="1000"/>
              </a:spcBef>
              <a:spcAft>
                <a:spcPts val="0"/>
              </a:spcAft>
              <a:buClr>
                <a:srgbClr val="002060"/>
              </a:buClr>
              <a:buSzPct val="100000"/>
              <a:buChar char="•"/>
            </a:pPr>
            <a:r>
              <a:rPr lang="en-IN" b="1" dirty="0"/>
              <a:t>Initiation Phase (Weeks 1-2)</a:t>
            </a:r>
            <a:endParaRPr dirty="0"/>
          </a:p>
          <a:p>
            <a:pPr marL="685800" lvl="1" indent="-228600" algn="just">
              <a:buSzPct val="100000"/>
            </a:pPr>
            <a:r>
              <a:rPr lang="en-US" dirty="0">
                <a:solidFill>
                  <a:srgbClr val="002060"/>
                </a:solidFill>
              </a:rPr>
              <a:t>Define project scope and objectives</a:t>
            </a:r>
          </a:p>
          <a:p>
            <a:pPr marL="685800" lvl="1" indent="-228600" algn="just">
              <a:buSzPct val="100000"/>
            </a:pPr>
            <a:r>
              <a:rPr lang="en-US" dirty="0">
                <a:solidFill>
                  <a:srgbClr val="002060"/>
                </a:solidFill>
              </a:rPr>
              <a:t>Finalize datasets, tools, and methodology</a:t>
            </a:r>
          </a:p>
          <a:p>
            <a:pPr marL="685800" lvl="1" indent="-228600" algn="just">
              <a:buSzPct val="100000"/>
            </a:pPr>
            <a:r>
              <a:rPr lang="en-US" dirty="0">
                <a:solidFill>
                  <a:srgbClr val="002060"/>
                </a:solidFill>
              </a:rPr>
              <a:t>Conduct feasibility and literature review</a:t>
            </a:r>
            <a:r>
              <a:rPr lang="en-IN" dirty="0">
                <a:solidFill>
                  <a:srgbClr val="002060"/>
                </a:solidFill>
              </a:rPr>
              <a:t>.</a:t>
            </a:r>
            <a:endParaRPr dirty="0">
              <a:solidFill>
                <a:srgbClr val="002060"/>
              </a:solidFill>
            </a:endParaRPr>
          </a:p>
          <a:p>
            <a:pPr marL="228600" lvl="0" indent="-228600" algn="just" rtl="0">
              <a:lnSpc>
                <a:spcPct val="90000"/>
              </a:lnSpc>
              <a:spcBef>
                <a:spcPts val="1000"/>
              </a:spcBef>
              <a:spcAft>
                <a:spcPts val="0"/>
              </a:spcAft>
              <a:buClr>
                <a:srgbClr val="002060"/>
              </a:buClr>
              <a:buSzPct val="100000"/>
              <a:buChar char="•"/>
            </a:pPr>
            <a:r>
              <a:rPr lang="en-IN" b="1" dirty="0"/>
              <a:t>Planning Phase (Weeks 3-4)</a:t>
            </a:r>
            <a:endParaRPr dirty="0"/>
          </a:p>
          <a:p>
            <a:pPr marL="685800" lvl="1" indent="-228600" algn="just">
              <a:buSzPct val="100000"/>
            </a:pPr>
            <a:r>
              <a:rPr lang="en-US" dirty="0">
                <a:solidFill>
                  <a:srgbClr val="002060"/>
                </a:solidFill>
              </a:rPr>
              <a:t>Prepare detailed workflow and task timeline</a:t>
            </a:r>
            <a:r>
              <a:rPr lang="en-IN" dirty="0">
                <a:solidFill>
                  <a:srgbClr val="002060"/>
                </a:solidFill>
              </a:rPr>
              <a:t>.</a:t>
            </a:r>
            <a:endParaRPr dirty="0">
              <a:solidFill>
                <a:srgbClr val="002060"/>
              </a:solidFill>
            </a:endParaRPr>
          </a:p>
          <a:p>
            <a:pPr marL="685800" lvl="1" indent="-228600" algn="just" rtl="0">
              <a:lnSpc>
                <a:spcPct val="90000"/>
              </a:lnSpc>
              <a:spcBef>
                <a:spcPts val="500"/>
              </a:spcBef>
              <a:spcAft>
                <a:spcPts val="0"/>
              </a:spcAft>
              <a:buClr>
                <a:schemeClr val="dk1"/>
              </a:buClr>
              <a:buSzPct val="100000"/>
              <a:buChar char="•"/>
            </a:pPr>
            <a:r>
              <a:rPr lang="en-IN" dirty="0">
                <a:solidFill>
                  <a:srgbClr val="002060"/>
                </a:solidFill>
              </a:rPr>
              <a:t>Allocate resources and assign responsibilities.</a:t>
            </a:r>
            <a:endParaRPr dirty="0">
              <a:solidFill>
                <a:srgbClr val="002060"/>
              </a:solidFill>
            </a:endParaRPr>
          </a:p>
          <a:p>
            <a:pPr marL="685800" lvl="1" indent="-228600" algn="just">
              <a:buSzPct val="100000"/>
            </a:pPr>
            <a:r>
              <a:rPr lang="en-US" dirty="0">
                <a:solidFill>
                  <a:srgbClr val="002060"/>
                </a:solidFill>
              </a:rPr>
              <a:t>Finalize system architecture and milestones</a:t>
            </a:r>
            <a:r>
              <a:rPr lang="en-IN" dirty="0">
                <a:solidFill>
                  <a:srgbClr val="002060"/>
                </a:solidFill>
              </a:rPr>
              <a:t>.</a:t>
            </a:r>
            <a:endParaRPr dirty="0">
              <a:solidFill>
                <a:srgbClr val="002060"/>
              </a:solidFill>
            </a:endParaRPr>
          </a:p>
          <a:p>
            <a:pPr marL="228600" lvl="0" indent="-228600" algn="just" rtl="0">
              <a:lnSpc>
                <a:spcPct val="90000"/>
              </a:lnSpc>
              <a:spcBef>
                <a:spcPts val="1000"/>
              </a:spcBef>
              <a:spcAft>
                <a:spcPts val="0"/>
              </a:spcAft>
              <a:buClr>
                <a:srgbClr val="002060"/>
              </a:buClr>
              <a:buSzPct val="100000"/>
              <a:buChar char="•"/>
            </a:pPr>
            <a:r>
              <a:rPr lang="en-IN" b="1" dirty="0"/>
              <a:t>Execution Phase (Weeks 5-10)</a:t>
            </a:r>
            <a:endParaRPr dirty="0"/>
          </a:p>
          <a:p>
            <a:pPr marL="685800" lvl="1" indent="-228600" algn="just">
              <a:buSzPct val="100000"/>
            </a:pPr>
            <a:r>
              <a:rPr lang="en-IN" dirty="0">
                <a:solidFill>
                  <a:srgbClr val="002060"/>
                </a:solidFill>
              </a:rPr>
              <a:t>Data collection and preprocessing.</a:t>
            </a:r>
            <a:endParaRPr dirty="0">
              <a:solidFill>
                <a:srgbClr val="002060"/>
              </a:solidFill>
            </a:endParaRPr>
          </a:p>
          <a:p>
            <a:pPr marL="685800" lvl="1" indent="-228600" algn="just">
              <a:buSzPct val="100000"/>
            </a:pPr>
            <a:r>
              <a:rPr lang="en-US" dirty="0">
                <a:solidFill>
                  <a:srgbClr val="002060"/>
                </a:solidFill>
              </a:rPr>
              <a:t>Federated learning and explainability integration</a:t>
            </a:r>
            <a:r>
              <a:rPr lang="en-IN" dirty="0">
                <a:solidFill>
                  <a:srgbClr val="002060"/>
                </a:solidFill>
              </a:rPr>
              <a:t>.</a:t>
            </a:r>
            <a:endParaRPr dirty="0">
              <a:solidFill>
                <a:srgbClr val="002060"/>
              </a:solidFill>
            </a:endParaRPr>
          </a:p>
          <a:p>
            <a:pPr marL="685800" lvl="1" indent="-228600" algn="just">
              <a:buSzPct val="100000"/>
            </a:pPr>
            <a:r>
              <a:rPr lang="en-IN" dirty="0">
                <a:solidFill>
                  <a:srgbClr val="002060"/>
                </a:solidFill>
              </a:rPr>
              <a:t>Model development and training.</a:t>
            </a:r>
          </a:p>
          <a:p>
            <a:pPr marL="685800" lvl="1" indent="-228600" algn="just">
              <a:buSzPct val="100000"/>
            </a:pPr>
            <a:r>
              <a:rPr lang="en-US" dirty="0">
                <a:solidFill>
                  <a:srgbClr val="002060"/>
                </a:solidFill>
              </a:rPr>
              <a:t>Regular progress reviews and testing</a:t>
            </a:r>
            <a:endParaRPr dirty="0">
              <a:solidFill>
                <a:srgbClr val="002060"/>
              </a:solidFill>
            </a:endParaRPr>
          </a:p>
          <a:p>
            <a:pPr marL="228600" lvl="0" indent="-228600" algn="just" rtl="0">
              <a:lnSpc>
                <a:spcPct val="90000"/>
              </a:lnSpc>
              <a:spcBef>
                <a:spcPts val="1000"/>
              </a:spcBef>
              <a:spcAft>
                <a:spcPts val="0"/>
              </a:spcAft>
              <a:buClr>
                <a:srgbClr val="002060"/>
              </a:buClr>
              <a:buSzPct val="100000"/>
              <a:buChar char="•"/>
            </a:pPr>
            <a:r>
              <a:rPr lang="en-IN" b="1" dirty="0"/>
              <a:t>Closure Phase (Weeks 11-13)</a:t>
            </a:r>
            <a:endParaRPr dirty="0"/>
          </a:p>
          <a:p>
            <a:pPr marL="685800" lvl="1" indent="-228600" algn="just">
              <a:buSzPct val="100000"/>
            </a:pPr>
            <a:r>
              <a:rPr lang="en-US" dirty="0">
                <a:solidFill>
                  <a:srgbClr val="002060"/>
                </a:solidFill>
              </a:rPr>
              <a:t>Complete final model and dashboard</a:t>
            </a:r>
          </a:p>
          <a:p>
            <a:pPr marL="685800" lvl="1" indent="-228600" algn="just">
              <a:buSzPct val="100000"/>
            </a:pPr>
            <a:r>
              <a:rPr lang="en-IN" dirty="0">
                <a:solidFill>
                  <a:srgbClr val="002060"/>
                </a:solidFill>
              </a:rPr>
              <a:t>Prepare documentation and presentation.</a:t>
            </a:r>
            <a:endParaRPr dirty="0">
              <a:solidFill>
                <a:srgbClr val="002060"/>
              </a:solidFill>
            </a:endParaRPr>
          </a:p>
          <a:p>
            <a:pPr marL="685800" lvl="1" indent="-228600" algn="just">
              <a:buSzPct val="100000"/>
            </a:pPr>
            <a:r>
              <a:rPr lang="en-US" dirty="0">
                <a:solidFill>
                  <a:srgbClr val="002060"/>
                </a:solidFill>
              </a:rPr>
              <a:t>Project review, feedback incorporation, and final submission</a:t>
            </a:r>
            <a:r>
              <a:rPr lang="en-IN" dirty="0">
                <a:solidFill>
                  <a:srgbClr val="002060"/>
                </a:solidFill>
              </a:rPr>
              <a:t>.</a:t>
            </a:r>
            <a:endParaRPr dirty="0">
              <a:solidFill>
                <a:srgbClr val="002060"/>
              </a:solidFill>
            </a:endParaRPr>
          </a:p>
          <a:p>
            <a:pPr marL="228600" lvl="0" indent="-77470" algn="just" rtl="0">
              <a:lnSpc>
                <a:spcPct val="90000"/>
              </a:lnSpc>
              <a:spcBef>
                <a:spcPts val="1000"/>
              </a:spcBef>
              <a:spcAft>
                <a:spcPts val="0"/>
              </a:spcAft>
              <a:buClr>
                <a:srgbClr val="002060"/>
              </a:buClr>
              <a:buSzPct val="100000"/>
              <a:buNone/>
            </a:pPr>
            <a:endParaRPr dirty="0"/>
          </a:p>
        </p:txBody>
      </p:sp>
      <p:sp>
        <p:nvSpPr>
          <p:cNvPr id="208" name="Google Shape;208;p12"/>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18</a:t>
            </a:fld>
            <a:endParaRPr/>
          </a:p>
        </p:txBody>
      </p:sp>
      <p:sp>
        <p:nvSpPr>
          <p:cNvPr id="209" name="Google Shape;209;p12"/>
          <p:cNvSpPr txBox="1"/>
          <p:nvPr/>
        </p:nvSpPr>
        <p:spPr>
          <a:xfrm>
            <a:off x="2284362" y="0"/>
            <a:ext cx="8146571" cy="839401"/>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Timeline of the project</a:t>
            </a:r>
            <a:endParaRPr/>
          </a:p>
        </p:txBody>
      </p:sp>
      <p:sp>
        <p:nvSpPr>
          <p:cNvPr id="2" name="TextBox 1">
            <a:extLst>
              <a:ext uri="{FF2B5EF4-FFF2-40B4-BE49-F238E27FC236}">
                <a16:creationId xmlns:a16="http://schemas.microsoft.com/office/drawing/2014/main" id="{85E88E0B-C580-0153-3604-8A886BA419D4}"/>
              </a:ext>
            </a:extLst>
          </p:cNvPr>
          <p:cNvSpPr txBox="1"/>
          <p:nvPr/>
        </p:nvSpPr>
        <p:spPr>
          <a:xfrm>
            <a:off x="88490" y="6302291"/>
            <a:ext cx="2458065" cy="338554"/>
          </a:xfrm>
          <a:prstGeom prst="rect">
            <a:avLst/>
          </a:prstGeom>
          <a:noFill/>
        </p:spPr>
        <p:txBody>
          <a:bodyPr wrap="square" rtlCol="0">
            <a:spAutoFit/>
          </a:bodyPr>
          <a:lstStyle/>
          <a:p>
            <a:r>
              <a:rPr lang="en-US" sz="1600" b="1" dirty="0">
                <a:solidFill>
                  <a:srgbClr val="FF0000"/>
                </a:solidFill>
                <a:latin typeface="Bookman Old Style" panose="02050604050505020204" pitchFamily="18" charset="0"/>
              </a:rPr>
              <a:t>1</a:t>
            </a:r>
            <a:r>
              <a:rPr lang="en-US" sz="1600" b="1" baseline="30000" dirty="0">
                <a:solidFill>
                  <a:srgbClr val="FF0000"/>
                </a:solidFill>
                <a:latin typeface="Bookman Old Style" panose="02050604050505020204" pitchFamily="18" charset="0"/>
              </a:rPr>
              <a:t>st</a:t>
            </a:r>
            <a:r>
              <a:rPr lang="en-US" sz="1600" b="1" dirty="0">
                <a:solidFill>
                  <a:srgbClr val="FF0000"/>
                </a:solidFill>
                <a:latin typeface="Bookman Old Style" panose="02050604050505020204" pitchFamily="18" charset="0"/>
              </a:rPr>
              <a:t> April, 2026</a:t>
            </a:r>
            <a:endParaRPr lang="en-IN" sz="1600" b="1" dirty="0">
              <a:solidFill>
                <a:srgbClr val="FF0000"/>
              </a:solidFill>
              <a:latin typeface="Bookman Old Style" panose="020506040505050202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13"/>
          <p:cNvSpPr txBox="1">
            <a:spLocks noGrp="1"/>
          </p:cNvSpPr>
          <p:nvPr>
            <p:ph type="body" idx="1"/>
          </p:nvPr>
        </p:nvSpPr>
        <p:spPr>
          <a:xfrm>
            <a:off x="174811" y="1117600"/>
            <a:ext cx="11842377" cy="5229605"/>
          </a:xfrm>
          <a:prstGeom prst="rect">
            <a:avLst/>
          </a:prstGeom>
          <a:noFill/>
          <a:ln>
            <a:noFill/>
          </a:ln>
        </p:spPr>
        <p:txBody>
          <a:bodyPr spcFirstLastPara="1" wrap="square" lIns="91425" tIns="45700" rIns="91425" bIns="45700" anchor="t" anchorCtr="0">
            <a:normAutofit lnSpcReduction="10000"/>
          </a:bodyPr>
          <a:lstStyle/>
          <a:p>
            <a:pPr marL="342900" indent="-342900" algn="just">
              <a:lnSpc>
                <a:spcPct val="150000"/>
              </a:lnSpc>
              <a:spcBef>
                <a:spcPts val="0"/>
              </a:spcBef>
            </a:pPr>
            <a:r>
              <a:rPr lang="en-IN" sz="2000" b="1" dirty="0"/>
              <a:t>Summary of Key Points: </a:t>
            </a:r>
          </a:p>
          <a:p>
            <a:pPr marL="342900" indent="-342900" algn="just">
              <a:lnSpc>
                <a:spcPct val="150000"/>
              </a:lnSpc>
              <a:spcBef>
                <a:spcPts val="0"/>
              </a:spcBef>
            </a:pPr>
            <a:r>
              <a:rPr lang="en-US" sz="2000" dirty="0"/>
              <a:t>Developed a privacy-preserving and explainable AI framework for early dengue and malaria outbreak forecasting.</a:t>
            </a:r>
          </a:p>
          <a:p>
            <a:pPr marL="342900" indent="-342900" algn="just">
              <a:lnSpc>
                <a:spcPct val="150000"/>
              </a:lnSpc>
              <a:spcBef>
                <a:spcPts val="0"/>
              </a:spcBef>
            </a:pPr>
            <a:r>
              <a:rPr lang="en-US" sz="2000" dirty="0"/>
              <a:t>Integrated spatio-temporal graph learning, federated learning, and multi-source healthcare datasets for predictive surveillance.</a:t>
            </a:r>
          </a:p>
          <a:p>
            <a:pPr marL="342900" indent="-342900" algn="just">
              <a:lnSpc>
                <a:spcPct val="150000"/>
              </a:lnSpc>
              <a:spcBef>
                <a:spcPts val="0"/>
              </a:spcBef>
            </a:pPr>
            <a:r>
              <a:rPr lang="en-US" sz="2000" dirty="0"/>
              <a:t>Aimed to support timely public health interventions and better resource planning through actionable outbreak insights.</a:t>
            </a:r>
            <a:endParaRPr lang="en-IN" sz="2000" dirty="0"/>
          </a:p>
          <a:p>
            <a:pPr marL="342900" indent="-342900" algn="just">
              <a:lnSpc>
                <a:spcPct val="150000"/>
              </a:lnSpc>
              <a:spcBef>
                <a:spcPts val="0"/>
              </a:spcBef>
            </a:pPr>
            <a:r>
              <a:rPr lang="en-IN" sz="2000" b="1" dirty="0"/>
              <a:t>Final Thoughts: </a:t>
            </a:r>
            <a:r>
              <a:rPr lang="en-US" sz="2000" dirty="0"/>
              <a:t>This project demonstrates how advanced AI techniques can transform traditional reactive disease monitoring into a proactive, data-driven surveillance system.</a:t>
            </a:r>
            <a:r>
              <a:rPr lang="en-IN" sz="2000" dirty="0"/>
              <a:t>.</a:t>
            </a:r>
          </a:p>
          <a:p>
            <a:pPr marL="342900" indent="-342900" algn="just">
              <a:lnSpc>
                <a:spcPct val="150000"/>
              </a:lnSpc>
              <a:spcBef>
                <a:spcPts val="0"/>
              </a:spcBef>
            </a:pPr>
            <a:r>
              <a:rPr lang="en-IN" sz="2000" b="1" dirty="0"/>
              <a:t>Call to Action or Next Steps:</a:t>
            </a:r>
            <a:r>
              <a:rPr lang="en-IN" sz="2000" dirty="0"/>
              <a:t> </a:t>
            </a:r>
            <a:r>
              <a:rPr lang="en-US" sz="2000" dirty="0"/>
              <a:t>Future work includes real-time deployment with hospital networks, expansion to additional infectious diseases, and enhanced multimodal forecasting capabilities.</a:t>
            </a:r>
            <a:r>
              <a:rPr lang="en-IN" sz="2000" dirty="0"/>
              <a:t>.</a:t>
            </a:r>
            <a:endParaRPr sz="2000" dirty="0"/>
          </a:p>
        </p:txBody>
      </p:sp>
      <p:sp>
        <p:nvSpPr>
          <p:cNvPr id="217" name="Google Shape;217;p13"/>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19</a:t>
            </a:fld>
            <a:endParaRPr/>
          </a:p>
        </p:txBody>
      </p:sp>
      <p:sp>
        <p:nvSpPr>
          <p:cNvPr id="218" name="Google Shape;218;p13"/>
          <p:cNvSpPr txBox="1"/>
          <p:nvPr/>
        </p:nvSpPr>
        <p:spPr>
          <a:xfrm>
            <a:off x="2284362" y="145670"/>
            <a:ext cx="8146571" cy="839401"/>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Conclusion</a:t>
            </a:r>
            <a:endParaRPr/>
          </a:p>
        </p:txBody>
      </p:sp>
      <p:sp>
        <p:nvSpPr>
          <p:cNvPr id="2" name="TextBox 1">
            <a:extLst>
              <a:ext uri="{FF2B5EF4-FFF2-40B4-BE49-F238E27FC236}">
                <a16:creationId xmlns:a16="http://schemas.microsoft.com/office/drawing/2014/main" id="{ABB6BD44-DECE-5067-4A64-FB65877ABF9A}"/>
              </a:ext>
            </a:extLst>
          </p:cNvPr>
          <p:cNvSpPr txBox="1"/>
          <p:nvPr/>
        </p:nvSpPr>
        <p:spPr>
          <a:xfrm>
            <a:off x="88490" y="6302291"/>
            <a:ext cx="2458065" cy="338554"/>
          </a:xfrm>
          <a:prstGeom prst="rect">
            <a:avLst/>
          </a:prstGeom>
          <a:noFill/>
        </p:spPr>
        <p:txBody>
          <a:bodyPr wrap="square" rtlCol="0">
            <a:spAutoFit/>
          </a:bodyPr>
          <a:lstStyle/>
          <a:p>
            <a:r>
              <a:rPr lang="en-US" sz="1600" b="1" dirty="0">
                <a:solidFill>
                  <a:srgbClr val="FF0000"/>
                </a:solidFill>
                <a:latin typeface="Bookman Old Style" panose="02050604050505020204" pitchFamily="18" charset="0"/>
              </a:rPr>
              <a:t>1</a:t>
            </a:r>
            <a:r>
              <a:rPr lang="en-US" sz="1600" b="1" baseline="30000" dirty="0">
                <a:solidFill>
                  <a:srgbClr val="FF0000"/>
                </a:solidFill>
                <a:latin typeface="Bookman Old Style" panose="02050604050505020204" pitchFamily="18" charset="0"/>
              </a:rPr>
              <a:t>st</a:t>
            </a:r>
            <a:r>
              <a:rPr lang="en-US" sz="1600" b="1" dirty="0">
                <a:solidFill>
                  <a:srgbClr val="FF0000"/>
                </a:solidFill>
                <a:latin typeface="Bookman Old Style" panose="02050604050505020204" pitchFamily="18" charset="0"/>
              </a:rPr>
              <a:t> April, 2026</a:t>
            </a:r>
            <a:endParaRPr lang="en-IN" sz="1600" b="1" dirty="0">
              <a:solidFill>
                <a:srgbClr val="FF0000"/>
              </a:solidFill>
              <a:latin typeface="Bookman Old Style" panose="020506040505050202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14"/>
          <p:cNvSpPr txBox="1">
            <a:spLocks noGrp="1"/>
          </p:cNvSpPr>
          <p:nvPr>
            <p:ph type="body" idx="1"/>
          </p:nvPr>
        </p:nvSpPr>
        <p:spPr>
          <a:xfrm>
            <a:off x="389467" y="1117600"/>
            <a:ext cx="11192933" cy="5229605"/>
          </a:xfrm>
          <a:prstGeom prst="rect">
            <a:avLst/>
          </a:prstGeom>
          <a:noFill/>
          <a:ln>
            <a:noFill/>
          </a:ln>
        </p:spPr>
        <p:txBody>
          <a:bodyPr spcFirstLastPara="1" wrap="square" lIns="91425" tIns="45700" rIns="91425" bIns="45700" anchor="t" anchorCtr="0">
            <a:noAutofit/>
          </a:bodyPr>
          <a:lstStyle/>
          <a:p>
            <a:pPr marL="50800" indent="0">
              <a:buNone/>
            </a:pPr>
            <a:r>
              <a:rPr lang="en-IN" sz="1300" dirty="0"/>
              <a:t>[1] W. Fu, H. Li, Y. Liu, S. Xia, and H. Chen, “Privacy-preserving individual-level COVID-19 infection prediction via federated graph learning,” ACM Transactions on Information Systems, vol. 42, no. 4, pp. 1–28, Apr. 2024.</a:t>
            </a:r>
          </a:p>
          <a:p>
            <a:pPr marL="50800" indent="0">
              <a:buNone/>
            </a:pPr>
            <a:r>
              <a:rPr lang="en-IN" sz="1300" dirty="0"/>
              <a:t>[2] C. </a:t>
            </a:r>
            <a:r>
              <a:rPr lang="en-IN" sz="1300" dirty="0" err="1"/>
              <a:t>Hausleitner</a:t>
            </a:r>
            <a:r>
              <a:rPr lang="en-IN" sz="1300" dirty="0"/>
              <a:t>, H. Mueller, A. Holzinger, and B. Pfeifer, “Collaborative weighting in federated graph neural networks for disease classification with the human-in-the-loop,” Scientific Reports, vol. 14, p. 21839, Sep. 2024, </a:t>
            </a:r>
            <a:r>
              <a:rPr lang="en-IN" sz="1300" dirty="0" err="1"/>
              <a:t>doi</a:t>
            </a:r>
            <a:r>
              <a:rPr lang="en-IN" sz="1300" dirty="0"/>
              <a:t>: 10.1038/s41598-024-72748-7.</a:t>
            </a:r>
          </a:p>
          <a:p>
            <a:pPr marL="50800" indent="0">
              <a:buNone/>
            </a:pPr>
            <a:r>
              <a:rPr lang="en-IN" sz="1300" dirty="0"/>
              <a:t>[3] K. Chang, H. Sun, J. Wan, et al., “</a:t>
            </a:r>
            <a:r>
              <a:rPr lang="en-IN" sz="1300" dirty="0" err="1"/>
              <a:t>FedCE</a:t>
            </a:r>
            <a:r>
              <a:rPr lang="en-IN" sz="1300" dirty="0"/>
              <a:t>: A contrast enhancement federated learning method for heterogeneous medical named entity recognition,” Tsinghua Science and Technology, vol. 30, no. 6, pp. 2384–2398, Jul. 2025, </a:t>
            </a:r>
            <a:r>
              <a:rPr lang="en-IN" sz="1300" dirty="0" err="1"/>
              <a:t>doi</a:t>
            </a:r>
            <a:r>
              <a:rPr lang="en-IN" sz="1300" dirty="0"/>
              <a:t>: 10.26599/TST.2024.9010186.</a:t>
            </a:r>
          </a:p>
          <a:p>
            <a:pPr marL="50800" indent="0">
              <a:buNone/>
            </a:pPr>
            <a:r>
              <a:rPr lang="en-IN" sz="1300" dirty="0"/>
              <a:t>[4] R. Li, S. Chen, Y. Li, and X. Zhang, “</a:t>
            </a:r>
            <a:r>
              <a:rPr lang="en-IN" sz="1300" dirty="0" err="1"/>
              <a:t>Modeling</a:t>
            </a:r>
            <a:r>
              <a:rPr lang="en-IN" sz="1300" dirty="0"/>
              <a:t> epidemic dynamics using graph attention based spatial temporal networks (GAST),” </a:t>
            </a:r>
            <a:r>
              <a:rPr lang="en-IN" sz="1300" dirty="0" err="1"/>
              <a:t>PLoS</a:t>
            </a:r>
            <a:r>
              <a:rPr lang="en-IN" sz="1300" dirty="0"/>
              <a:t> ONE, vol. 19, no. 9, p. e0307159, Sep. 2024, </a:t>
            </a:r>
            <a:r>
              <a:rPr lang="en-IN" sz="1300" dirty="0" err="1"/>
              <a:t>doi</a:t>
            </a:r>
            <a:r>
              <a:rPr lang="en-IN" sz="1300" dirty="0"/>
              <a:t>: 10.1371/journal.pone.0307159.</a:t>
            </a:r>
          </a:p>
          <a:p>
            <a:pPr marL="50800" indent="0">
              <a:buNone/>
            </a:pPr>
            <a:r>
              <a:rPr lang="en-IN" sz="1300" dirty="0"/>
              <a:t>[5] L. Wang, A. Adiga, J. Chen, A. Sadilek, S. </a:t>
            </a:r>
            <a:r>
              <a:rPr lang="en-IN" sz="1300" dirty="0" err="1"/>
              <a:t>Venkatramanan</a:t>
            </a:r>
            <a:r>
              <a:rPr lang="en-IN" sz="1300" dirty="0"/>
              <a:t>, and M. Marathe, “</a:t>
            </a:r>
            <a:r>
              <a:rPr lang="en-IN" sz="1300" dirty="0" err="1"/>
              <a:t>CausalGNN</a:t>
            </a:r>
            <a:r>
              <a:rPr lang="en-IN" sz="1300" dirty="0"/>
              <a:t>: Causal-based graph neural networks for </a:t>
            </a:r>
            <a:r>
              <a:rPr lang="en-IN" sz="1300" dirty="0" err="1"/>
              <a:t>spatio</a:t>
            </a:r>
            <a:r>
              <a:rPr lang="en-IN" sz="1300" dirty="0"/>
              <a:t>-temporal epidemic forecasting,” in Proc. 36th AAAI Conf. Artificial Intelligence (AAAI), Virtual, Feb. 2022, pp. 12191–12199.</a:t>
            </a:r>
          </a:p>
          <a:p>
            <a:pPr marL="50800" indent="0">
              <a:buNone/>
            </a:pPr>
            <a:r>
              <a:rPr lang="en-IN" sz="1300" dirty="0"/>
              <a:t>[6] G. S. K. Ranasinghe, S. S. L. Weerasinghe, and R. K. M. S. S. Rathnayake, “Graph representation learning for dengue forecasting,” in Proc. IEEE Int. Conf. Big Data (</a:t>
            </a:r>
            <a:r>
              <a:rPr lang="en-IN" sz="1300" dirty="0" err="1"/>
              <a:t>BigData</a:t>
            </a:r>
            <a:r>
              <a:rPr lang="en-IN" sz="1300" dirty="0"/>
              <a:t>), Washington, DC, USA, Dec. 2024, pp. 1–6, </a:t>
            </a:r>
            <a:r>
              <a:rPr lang="en-IN" sz="1300" dirty="0" err="1"/>
              <a:t>doi</a:t>
            </a:r>
            <a:r>
              <a:rPr lang="en-IN" sz="1300" dirty="0"/>
              <a:t>: 10.1109/BigData62323.2024.10825335.</a:t>
            </a:r>
          </a:p>
          <a:p>
            <a:pPr marL="50800" indent="0">
              <a:buNone/>
            </a:pPr>
            <a:r>
              <a:rPr lang="en-IN" sz="1300" dirty="0"/>
              <a:t>[7] T. Tang et al., “Personalized federated graph learning on non-IID electronic health records,” IEEE Transactions on Neural Networks and Learning Systems, vol. 35, no. 9, pp. 11843–11856, Sep. 2024, </a:t>
            </a:r>
            <a:r>
              <a:rPr lang="en-IN" sz="1300" dirty="0" err="1"/>
              <a:t>doi</a:t>
            </a:r>
            <a:r>
              <a:rPr lang="en-IN" sz="1300" dirty="0"/>
              <a:t>: 10.1109/TNNLS.2024.3370297.</a:t>
            </a:r>
          </a:p>
          <a:p>
            <a:pPr marL="50800" indent="0">
              <a:buNone/>
            </a:pPr>
            <a:r>
              <a:rPr lang="en-IN" sz="1300" dirty="0"/>
              <a:t>[8] “Research on classification method of infectious diseases in population mobility based on bipartite interactive graph neural network algorithm,” in Proc. IEEE Int. Conf. Computing, Networking and Communications (ICNC), Tokyo, Japan, Mar. 2024, pp. 1–6, </a:t>
            </a:r>
            <a:r>
              <a:rPr lang="en-IN" sz="1300" dirty="0" err="1"/>
              <a:t>doi</a:t>
            </a:r>
            <a:r>
              <a:rPr lang="en-IN" sz="1300" dirty="0"/>
              <a:t>: 10.1109/ICNC59896.2024.11012080.</a:t>
            </a:r>
          </a:p>
          <a:p>
            <a:pPr marL="50800" indent="0">
              <a:buNone/>
            </a:pPr>
            <a:r>
              <a:rPr lang="en-IN" sz="1300" dirty="0"/>
              <a:t>[9] “AI, federated learning, and explainable AI for developing secure and robust Healthcare 4.0 networks,” in Proc. IEEE Int. Conf. Innovative Computing, Intelligent Communication and Smart Electrical Systems (ICSES), </a:t>
            </a:r>
            <a:r>
              <a:rPr lang="en-IN" sz="1300" dirty="0" err="1"/>
              <a:t>Raigarh</a:t>
            </a:r>
            <a:r>
              <a:rPr lang="en-IN" sz="1300" dirty="0"/>
              <a:t>, India, Apr. 2025, pp. 1–6, </a:t>
            </a:r>
            <a:r>
              <a:rPr lang="en-IN" sz="1300" dirty="0" err="1"/>
              <a:t>doi</a:t>
            </a:r>
            <a:r>
              <a:rPr lang="en-IN" sz="1300" dirty="0"/>
              <a:t>: 10.1109/ICSES60034.2025.11071020.</a:t>
            </a:r>
          </a:p>
        </p:txBody>
      </p:sp>
      <p:sp>
        <p:nvSpPr>
          <p:cNvPr id="226" name="Google Shape;226;p14"/>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20</a:t>
            </a:fld>
            <a:endParaRPr/>
          </a:p>
        </p:txBody>
      </p:sp>
      <p:sp>
        <p:nvSpPr>
          <p:cNvPr id="227" name="Google Shape;227;p14"/>
          <p:cNvSpPr txBox="1"/>
          <p:nvPr/>
        </p:nvSpPr>
        <p:spPr>
          <a:xfrm>
            <a:off x="2284362" y="145670"/>
            <a:ext cx="8146571" cy="839401"/>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References</a:t>
            </a:r>
            <a:endParaRPr/>
          </a:p>
        </p:txBody>
      </p:sp>
      <p:sp>
        <p:nvSpPr>
          <p:cNvPr id="2" name="TextBox 1">
            <a:extLst>
              <a:ext uri="{FF2B5EF4-FFF2-40B4-BE49-F238E27FC236}">
                <a16:creationId xmlns:a16="http://schemas.microsoft.com/office/drawing/2014/main" id="{B9ED5DCC-7924-1B79-C89C-8FEC0291864C}"/>
              </a:ext>
            </a:extLst>
          </p:cNvPr>
          <p:cNvSpPr txBox="1"/>
          <p:nvPr/>
        </p:nvSpPr>
        <p:spPr>
          <a:xfrm>
            <a:off x="88490" y="6302291"/>
            <a:ext cx="2458065" cy="338554"/>
          </a:xfrm>
          <a:prstGeom prst="rect">
            <a:avLst/>
          </a:prstGeom>
          <a:noFill/>
        </p:spPr>
        <p:txBody>
          <a:bodyPr wrap="square" rtlCol="0">
            <a:spAutoFit/>
          </a:bodyPr>
          <a:lstStyle/>
          <a:p>
            <a:r>
              <a:rPr lang="en-US" sz="1600" b="1" dirty="0">
                <a:solidFill>
                  <a:srgbClr val="FF0000"/>
                </a:solidFill>
                <a:latin typeface="Bookman Old Style" panose="02050604050505020204" pitchFamily="18" charset="0"/>
              </a:rPr>
              <a:t>1</a:t>
            </a:r>
            <a:r>
              <a:rPr lang="en-US" sz="1600" b="1" baseline="30000" dirty="0">
                <a:solidFill>
                  <a:srgbClr val="FF0000"/>
                </a:solidFill>
                <a:latin typeface="Bookman Old Style" panose="02050604050505020204" pitchFamily="18" charset="0"/>
              </a:rPr>
              <a:t>st</a:t>
            </a:r>
            <a:r>
              <a:rPr lang="en-US" sz="1600" b="1" dirty="0">
                <a:solidFill>
                  <a:srgbClr val="FF0000"/>
                </a:solidFill>
                <a:latin typeface="Bookman Old Style" panose="02050604050505020204" pitchFamily="18" charset="0"/>
              </a:rPr>
              <a:t> April, 2026</a:t>
            </a:r>
            <a:endParaRPr lang="en-IN" sz="1600" b="1" dirty="0">
              <a:solidFill>
                <a:srgbClr val="FF0000"/>
              </a:solidFill>
              <a:latin typeface="Bookman Old Style" panose="020506040505050202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2" name="Google Shape;242;p16"/>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21</a:t>
            </a:fld>
            <a:endParaRPr/>
          </a:p>
        </p:txBody>
      </p:sp>
      <p:pic>
        <p:nvPicPr>
          <p:cNvPr id="243" name="Google Shape;243;p16"/>
          <p:cNvPicPr preferRelativeResize="0"/>
          <p:nvPr/>
        </p:nvPicPr>
        <p:blipFill rotWithShape="1">
          <a:blip r:embed="rId3">
            <a:alphaModFix/>
          </a:blip>
          <a:srcRect/>
          <a:stretch/>
        </p:blipFill>
        <p:spPr>
          <a:xfrm>
            <a:off x="3151096" y="1605964"/>
            <a:ext cx="5889812" cy="3646074"/>
          </a:xfrm>
          <a:prstGeom prst="rect">
            <a:avLst/>
          </a:prstGeom>
          <a:noFill/>
          <a:ln>
            <a:noFill/>
          </a:ln>
        </p:spPr>
      </p:pic>
      <p:sp>
        <p:nvSpPr>
          <p:cNvPr id="2" name="TextBox 1">
            <a:extLst>
              <a:ext uri="{FF2B5EF4-FFF2-40B4-BE49-F238E27FC236}">
                <a16:creationId xmlns:a16="http://schemas.microsoft.com/office/drawing/2014/main" id="{BB2AA761-B156-A4B8-2447-098BADBE60B9}"/>
              </a:ext>
            </a:extLst>
          </p:cNvPr>
          <p:cNvSpPr txBox="1"/>
          <p:nvPr/>
        </p:nvSpPr>
        <p:spPr>
          <a:xfrm>
            <a:off x="88490" y="6302291"/>
            <a:ext cx="2458065" cy="338554"/>
          </a:xfrm>
          <a:prstGeom prst="rect">
            <a:avLst/>
          </a:prstGeom>
          <a:noFill/>
        </p:spPr>
        <p:txBody>
          <a:bodyPr wrap="square" rtlCol="0">
            <a:spAutoFit/>
          </a:bodyPr>
          <a:lstStyle/>
          <a:p>
            <a:r>
              <a:rPr lang="en-US" sz="1600" b="1" dirty="0">
                <a:solidFill>
                  <a:srgbClr val="FF0000"/>
                </a:solidFill>
                <a:latin typeface="Bookman Old Style" panose="02050604050505020204" pitchFamily="18" charset="0"/>
              </a:rPr>
              <a:t>1</a:t>
            </a:r>
            <a:r>
              <a:rPr lang="en-US" sz="1600" b="1" baseline="30000" dirty="0">
                <a:solidFill>
                  <a:srgbClr val="FF0000"/>
                </a:solidFill>
                <a:latin typeface="Bookman Old Style" panose="02050604050505020204" pitchFamily="18" charset="0"/>
              </a:rPr>
              <a:t>st</a:t>
            </a:r>
            <a:r>
              <a:rPr lang="en-US" sz="1600" b="1" dirty="0">
                <a:solidFill>
                  <a:srgbClr val="FF0000"/>
                </a:solidFill>
                <a:latin typeface="Bookman Old Style" panose="02050604050505020204" pitchFamily="18" charset="0"/>
              </a:rPr>
              <a:t> April, 2026</a:t>
            </a:r>
            <a:endParaRPr lang="en-IN" sz="1600" b="1" dirty="0">
              <a:solidFill>
                <a:srgbClr val="FF0000"/>
              </a:solidFill>
              <a:latin typeface="Bookman Old Style" panose="020506040505050202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323</TotalTime>
  <Words>2174</Words>
  <Application>Microsoft Office PowerPoint</Application>
  <PresentationFormat>Widescreen</PresentationFormat>
  <Paragraphs>182</Paragraphs>
  <Slides>21</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Bookman Old Style</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Shanmukha</dc:creator>
  <cp:lastModifiedBy>Rohith Panchamukhi</cp:lastModifiedBy>
  <cp:revision>12</cp:revision>
  <dcterms:created xsi:type="dcterms:W3CDTF">2021-06-02T13:10:21Z</dcterms:created>
  <dcterms:modified xsi:type="dcterms:W3CDTF">2026-03-31T17:29:38Z</dcterms:modified>
</cp:coreProperties>
</file>